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4" Type="http://schemas.openxmlformats.org/officeDocument/2006/relationships/image" Target="../media/image4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7" Type="http://schemas.openxmlformats.org/officeDocument/2006/relationships/image" Target="../media/image55.sv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svg"/><Relationship Id="rId5" Type="http://schemas.openxmlformats.org/officeDocument/2006/relationships/image" Target="../media/image53.svg"/><Relationship Id="rId4" Type="http://schemas.openxmlformats.org/officeDocument/2006/relationships/image" Target="../media/image5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svg"/><Relationship Id="rId7" Type="http://schemas.openxmlformats.org/officeDocument/2006/relationships/image" Target="../media/image61.sv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svg"/><Relationship Id="rId5" Type="http://schemas.openxmlformats.org/officeDocument/2006/relationships/image" Target="../media/image59.sv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6.svg"/><Relationship Id="rId7" Type="http://schemas.openxmlformats.org/officeDocument/2006/relationships/image" Target="../media/image70.svg"/><Relationship Id="rId2" Type="http://schemas.openxmlformats.org/officeDocument/2006/relationships/image" Target="../media/image6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svg"/><Relationship Id="rId5" Type="http://schemas.openxmlformats.org/officeDocument/2006/relationships/image" Target="../media/image68.svg"/><Relationship Id="rId4" Type="http://schemas.openxmlformats.org/officeDocument/2006/relationships/image" Target="../media/image67.svg"/><Relationship Id="rId9" Type="http://schemas.openxmlformats.org/officeDocument/2006/relationships/image" Target="../media/image7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56.png"/><Relationship Id="rId7" Type="http://schemas.openxmlformats.org/officeDocument/2006/relationships/image" Target="../media/image77.svg"/><Relationship Id="rId2" Type="http://schemas.openxmlformats.org/officeDocument/2006/relationships/image" Target="../media/image7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svg"/><Relationship Id="rId5" Type="http://schemas.openxmlformats.org/officeDocument/2006/relationships/image" Target="../media/image75.svg"/><Relationship Id="rId4" Type="http://schemas.openxmlformats.org/officeDocument/2006/relationships/image" Target="../media/image74.svg"/><Relationship Id="rId9" Type="http://schemas.openxmlformats.org/officeDocument/2006/relationships/image" Target="../media/image7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647634" y="2423219"/>
            <a:ext cx="284857" cy="51807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188" y="4431395"/>
            <a:ext cx="114297" cy="1000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188" y="2097382"/>
            <a:ext cx="2499803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8B949E"/>
                </a:solidFill>
                <a:latin typeface="Courier New"/>
              </a:rPr>
              <a:t>$</a:t>
            </a:r>
            <a:r>
              <a:rPr sz="1163" b="0" i="0">
                <a:solidFill>
                  <a:srgbClr val="34D399"/>
                </a:solidFill>
                <a:latin typeface="Courier New"/>
              </a:rPr>
              <a:t> cat tonight-itinerary.sh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2360206"/>
            <a:ext cx="9171154" cy="5810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59" b="1" i="0">
                <a:solidFill>
                  <a:srgbClr val="A78BFA"/>
                </a:solidFill>
                <a:latin typeface="Courier New"/>
              </a:rPr>
              <a:t>./distro-hop --all --regrets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88" y="3118020"/>
            <a:ext cx="6320125" cy="276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37" b="1" i="0">
                <a:solidFill>
                  <a:srgbClr val="60A5FA"/>
                </a:solidFill>
                <a:latin typeface="Inter 18pt"/>
              </a:rPr>
              <a:t>Distro Hopping: A Penguin's Guide to Commitment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673" y="3649323"/>
            <a:ext cx="4325968" cy="200019"/>
          </a:xfrm>
          <a:prstGeom prst="rect">
            <a:avLst/>
          </a:prstGeom>
          <a:noFill/>
        </p:spPr>
        <p:txBody>
          <a:bodyPr wrap="none" lIns="137156" tIns="0" rIns="0" bIns="0">
            <a:spAutoFit/>
          </a:bodyPr>
          <a:lstStyle/>
          <a:p>
            <a:pPr algn="l"/>
            <a:r>
              <a:rPr sz="1226" b="0" i="1">
                <a:solidFill>
                  <a:srgbClr val="C9D1D9"/>
                </a:solidFill>
                <a:latin typeface="Inter 18pt"/>
              </a:rPr>
              <a:t>"Six operating systems. One hard drive. Zero regrets."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58" y="4062519"/>
            <a:ext cx="616787" cy="179065"/>
          </a:xfrm>
          <a:prstGeom prst="rect">
            <a:avLst/>
          </a:prstGeom>
          <a:solidFill>
            <a:srgbClr val="34D399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01" b="1" i="0">
                <a:solidFill>
                  <a:srgbClr val="0D1117"/>
                </a:solidFill>
                <a:latin typeface="Courier New"/>
              </a:rPr>
              <a:t>Ubuntu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085" y="4062519"/>
            <a:ext cx="616787" cy="179065"/>
          </a:xfrm>
          <a:prstGeom prst="rect">
            <a:avLst/>
          </a:prstGeom>
          <a:solidFill>
            <a:srgbClr val="60A5FA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01" b="1" i="0">
                <a:solidFill>
                  <a:srgbClr val="0D1117"/>
                </a:solidFill>
                <a:latin typeface="Courier New"/>
              </a:rPr>
              <a:t>Debian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3011" y="4062519"/>
            <a:ext cx="841215" cy="179065"/>
          </a:xfrm>
          <a:prstGeom prst="rect">
            <a:avLst/>
          </a:prstGeom>
          <a:solidFill>
            <a:srgbClr val="FBBF24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01" b="1" i="0">
                <a:solidFill>
                  <a:srgbClr val="0D1117"/>
                </a:solidFill>
                <a:latin typeface="Courier New"/>
              </a:rPr>
              <a:t>Slackware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0365" y="4062519"/>
            <a:ext cx="916073" cy="179065"/>
          </a:xfrm>
          <a:prstGeom prst="rect">
            <a:avLst/>
          </a:prstGeom>
          <a:solidFill>
            <a:srgbClr val="A78BFA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01" b="1" i="0">
                <a:solidFill>
                  <a:srgbClr val="0D1117"/>
                </a:solidFill>
                <a:latin typeface="Courier New"/>
              </a:rPr>
              <a:t>Linux Mint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2577" y="4062519"/>
            <a:ext cx="467070" cy="179065"/>
          </a:xfrm>
          <a:prstGeom prst="rect">
            <a:avLst/>
          </a:prstGeom>
          <a:solidFill>
            <a:srgbClr val="F87171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01" b="1" i="0">
                <a:solidFill>
                  <a:srgbClr val="0D1117"/>
                </a:solidFill>
                <a:latin typeface="Courier New"/>
              </a:rPr>
              <a:t>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5786" y="4062519"/>
            <a:ext cx="541929" cy="179065"/>
          </a:xfrm>
          <a:prstGeom prst="rect">
            <a:avLst/>
          </a:prstGeom>
          <a:solidFill>
            <a:srgbClr val="F472B6"/>
          </a:solidFill>
        </p:spPr>
        <p:txBody>
          <a:bodyPr wrap="none" lIns="83817" tIns="22859" rIns="83817" bIns="22859">
            <a:spAutoFit/>
          </a:bodyPr>
          <a:lstStyle/>
          <a:p>
            <a:pPr algn="l"/>
            <a:r>
              <a:rPr sz="701" b="1" i="0">
                <a:solidFill>
                  <a:srgbClr val="0D1117"/>
                </a:solidFill>
                <a:latin typeface="Courier New"/>
              </a:rPr>
              <a:t>NixOS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174" y="4429014"/>
            <a:ext cx="297083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8" b="0" i="0">
                <a:solidFill>
                  <a:srgbClr val="8B949E"/>
                </a:solidFill>
                <a:latin typeface="Courier New"/>
              </a:rPr>
              <a:t>13 slides · one very tired hard drive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88" y="6410164"/>
            <a:ext cx="1367398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1" b="0" i="0">
                <a:solidFill>
                  <a:srgbClr val="8B949E"/>
                </a:solidFill>
                <a:latin typeface="Inter 18pt"/>
              </a:rPr>
              <a:t>Refael Sheinker —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3865" y="6410164"/>
            <a:ext cx="195064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34D399"/>
                </a:solidFill>
                <a:latin typeface="Courier New"/>
              </a:rPr>
              <a:t>Internal Tech Talk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795486"/>
            <a:ext cx="4800600" cy="1250453"/>
          </a:xfrm>
          <a:prstGeom prst="roundRect">
            <a:avLst>
              <a:gd name="adj" fmla="val 3046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1000" y="795486"/>
            <a:ext cx="50800" cy="1250453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1000" y="2183010"/>
            <a:ext cx="4800600" cy="622696"/>
          </a:xfrm>
          <a:prstGeom prst="roundRect">
            <a:avLst>
              <a:gd name="adj" fmla="val 6118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000" y="2183010"/>
            <a:ext cx="38100" cy="62269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911" y="2354947"/>
            <a:ext cx="144494" cy="1015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10200" y="795486"/>
            <a:ext cx="6400800" cy="2992040"/>
          </a:xfrm>
          <a:prstGeom prst="roundRect">
            <a:avLst>
              <a:gd name="adj" fmla="val 254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19725" y="805011"/>
            <a:ext cx="6381750" cy="295275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556795" y="900261"/>
            <a:ext cx="95250" cy="9525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28245" y="900261"/>
            <a:ext cx="95250" cy="9525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899695" y="900261"/>
            <a:ext cx="95250" cy="9525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02264" y="1568797"/>
            <a:ext cx="423163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587305" y="1728787"/>
            <a:ext cx="6046589" cy="243780"/>
          </a:xfrm>
          <a:prstGeom prst="roundRect">
            <a:avLst>
              <a:gd name="adj" fmla="val 15628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91486" y="3496270"/>
            <a:ext cx="83790" cy="1446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0990" y="365363"/>
            <a:ext cx="127988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9" b="1" i="0">
                <a:solidFill>
                  <a:srgbClr val="34D399"/>
                </a:solidFill>
                <a:latin typeface="Courier New"/>
              </a:rPr>
              <a:t>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357" y="295267"/>
            <a:ext cx="4625908" cy="3809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79" b="1" i="0">
                <a:solidFill>
                  <a:srgbClr val="A78BFA"/>
                </a:solidFill>
                <a:latin typeface="Courier New"/>
              </a:rPr>
              <a:t>What Is Distro Hopping?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665" y="947862"/>
            <a:ext cx="96944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1" b="1" i="0">
                <a:solidFill>
                  <a:srgbClr val="34D399"/>
                </a:solidFill>
                <a:latin typeface="Courier New"/>
              </a:rPr>
              <a:t># DEFINITION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665" y="1178242"/>
            <a:ext cx="4129430" cy="6863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0" i="1">
                <a:solidFill>
                  <a:srgbClr val="C9D1D9"/>
                </a:solidFill>
                <a:latin typeface="Inter 18pt"/>
              </a:rPr>
              <a:t>"The noble Linux tradition of installing a new operating system every time you get bored — usually at 11 PM the night before a deadline."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145" y="2306778"/>
            <a:ext cx="60363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74" b="1" i="0">
                <a:solidFill>
                  <a:srgbClr val="8B949E"/>
                </a:solidFill>
                <a:latin typeface="Courier New"/>
              </a:rPr>
              <a:t>// 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145" y="2480009"/>
            <a:ext cx="2526294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C9D1D9"/>
                </a:solidFill>
                <a:latin typeface="Inter 18pt"/>
              </a:rPr>
              <a:t>What Your Linux Distro Says About YOU!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1863" y="881189"/>
            <a:ext cx="156801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8B949E"/>
                </a:solidFill>
                <a:latin typeface="Courier New"/>
              </a:rPr>
              <a:t>tonight's-itinerary.sh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7165" y="1237326"/>
            <a:ext cx="101022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4" b="1" i="0">
                <a:solidFill>
                  <a:srgbClr val="34D399"/>
                </a:solidFill>
                <a:latin typeface="Courier New"/>
              </a:rPr>
              <a:t>user@linux:~$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8254" y="1237326"/>
            <a:ext cx="1864918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8" b="0" i="0">
                <a:solidFill>
                  <a:srgbClr val="60A5FA"/>
                </a:solidFill>
                <a:latin typeface="Courier New"/>
              </a:rPr>
              <a:t>./tonight's-itinerary.sh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4042" y="1237326"/>
            <a:ext cx="134879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B949E"/>
                </a:solidFill>
                <a:latin typeface="Courier New"/>
              </a:rPr>
              <a:t># select your 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7165" y="1502084"/>
            <a:ext cx="172353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7" b="1" i="0">
                <a:solidFill>
                  <a:srgbClr val="A78BFA"/>
                </a:solidFill>
                <a:latin typeface="Courier New"/>
              </a:rPr>
              <a:t>[ TONIGHT'S ITINERARY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48034" y="1779195"/>
            <a:ext cx="14986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B949E"/>
                </a:solidFill>
                <a:latin typeface="Courier New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3187" y="1779195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4888C"/>
                </a:solidFill>
                <a:latin typeface="Courier New"/>
              </a:rPr>
              <a:t>|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4393" y="1774433"/>
            <a:ext cx="49365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1" i="0">
                <a:solidFill>
                  <a:srgbClr val="FBBF24"/>
                </a:solidFill>
                <a:latin typeface="Courier New"/>
              </a:rPr>
              <a:t>Ubuntu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1166" y="1779195"/>
            <a:ext cx="131664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The Friendly Start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48034" y="2061069"/>
            <a:ext cx="14986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B949E"/>
                </a:solidFill>
                <a:latin typeface="Courier New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3187" y="2061069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4888C"/>
                </a:solidFill>
                <a:latin typeface="Courier New"/>
              </a:rPr>
              <a:t>|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34393" y="2056306"/>
            <a:ext cx="49365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1" i="0">
                <a:solidFill>
                  <a:srgbClr val="60A5FA"/>
                </a:solidFill>
                <a:latin typeface="Courier New"/>
              </a:rPr>
              <a:t>Debian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1166" y="2061069"/>
            <a:ext cx="87776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Rock of 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48034" y="2342942"/>
            <a:ext cx="14986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B949E"/>
                </a:solidFill>
                <a:latin typeface="Courier New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3187" y="2342942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4888C"/>
                </a:solidFill>
                <a:latin typeface="Courier New"/>
              </a:rPr>
              <a:t>|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34393" y="2338180"/>
            <a:ext cx="740401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1" i="0">
                <a:solidFill>
                  <a:srgbClr val="F87171"/>
                </a:solidFill>
                <a:latin typeface="Courier New"/>
              </a:rPr>
              <a:t>Slackware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1166" y="2342942"/>
            <a:ext cx="95098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Living Museum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48034" y="2624815"/>
            <a:ext cx="14986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B949E"/>
                </a:solidFill>
                <a:latin typeface="Courier New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3187" y="2624815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4888C"/>
                </a:solidFill>
                <a:latin typeface="Courier New"/>
              </a:rPr>
              <a:t>|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4393" y="2620053"/>
            <a:ext cx="82255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1" i="0">
                <a:solidFill>
                  <a:srgbClr val="34D399"/>
                </a:solidFill>
                <a:latin typeface="Courier New"/>
              </a:rPr>
              <a:t>Linux Mint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1166" y="2624815"/>
            <a:ext cx="124357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Windows, But Good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8034" y="2906689"/>
            <a:ext cx="14986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B949E"/>
                </a:solidFill>
                <a:latin typeface="Courier New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3187" y="2906689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4888C"/>
                </a:solidFill>
                <a:latin typeface="Courier New"/>
              </a:rPr>
              <a:t>|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4393" y="2901927"/>
            <a:ext cx="82255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1" i="0">
                <a:solidFill>
                  <a:srgbClr val="A78BFA"/>
                </a:solidFill>
                <a:latin typeface="Courier New"/>
              </a:rPr>
              <a:t>Arch Linux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01166" y="2906689"/>
            <a:ext cx="102406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i use arch btw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48034" y="3188562"/>
            <a:ext cx="14986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B949E"/>
                </a:solidFill>
                <a:latin typeface="Courier New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3187" y="3188562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84888C"/>
                </a:solidFill>
                <a:latin typeface="Courier New"/>
              </a:rPr>
              <a:t>|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34393" y="3183800"/>
            <a:ext cx="41135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1" i="0">
                <a:solidFill>
                  <a:srgbClr val="F472B6"/>
                </a:solidFill>
                <a:latin typeface="Courier New"/>
              </a:rPr>
              <a:t>NixOS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01166" y="3188562"/>
            <a:ext cx="87776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Grand Finale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87165" y="3497075"/>
            <a:ext cx="124327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4" b="1" i="0">
                <a:solidFill>
                  <a:srgbClr val="34D399"/>
                </a:solidFill>
                <a:latin typeface="Courier New"/>
              </a:rPr>
              <a:t>Enter selection: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0990" y="6505412"/>
            <a:ext cx="2830342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8B949E"/>
                </a:solidFill>
                <a:latin typeface="Courier New"/>
              </a:rPr>
              <a:t>Refael Sheinker · Internal Tech Talk ·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49944" y="6505412"/>
            <a:ext cx="460760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8B949E"/>
                </a:solidFill>
                <a:latin typeface="Courier New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04800" y="288577"/>
            <a:ext cx="76200" cy="76200"/>
          </a:xfrm>
          <a:prstGeom prst="ellipse">
            <a:avLst/>
          </a:prstGeom>
          <a:solidFill>
            <a:srgbClr val="E95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4800" y="596056"/>
            <a:ext cx="5791200" cy="597098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04800" y="596056"/>
            <a:ext cx="50800" cy="59709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04800" y="1299716"/>
            <a:ext cx="5791200" cy="945505"/>
          </a:xfrm>
          <a:prstGeom prst="roundRect">
            <a:avLst>
              <a:gd name="adj" fmla="val 8059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4800" y="2351782"/>
            <a:ext cx="5791200" cy="764232"/>
          </a:xfrm>
          <a:prstGeom prst="roundRect">
            <a:avLst>
              <a:gd name="adj" fmla="val 997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4800" y="3222575"/>
            <a:ext cx="5791200" cy="727471"/>
          </a:xfrm>
          <a:prstGeom prst="roundRect">
            <a:avLst>
              <a:gd name="adj" fmla="val 10474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186" y="3353757"/>
            <a:ext cx="146629" cy="167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78760" y="596056"/>
            <a:ext cx="1344959" cy="460771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699920" y="596056"/>
            <a:ext cx="1344959" cy="460771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21080" y="596056"/>
            <a:ext cx="1344959" cy="460771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542240" y="596056"/>
            <a:ext cx="1344959" cy="460771"/>
          </a:xfrm>
          <a:prstGeom prst="roundRect">
            <a:avLst>
              <a:gd name="adj" fmla="val 1240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78760" y="1163389"/>
            <a:ext cx="5608439" cy="3909119"/>
          </a:xfrm>
          <a:prstGeom prst="roundRect">
            <a:avLst>
              <a:gd name="adj" fmla="val 1949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78760" y="5179069"/>
            <a:ext cx="5608439" cy="679995"/>
          </a:xfrm>
          <a:prstGeom prst="roundRect">
            <a:avLst>
              <a:gd name="adj" fmla="val 11205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3127" y="5295023"/>
            <a:ext cx="99451" cy="14465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278760" y="5965626"/>
            <a:ext cx="5608439" cy="500062"/>
          </a:xfrm>
          <a:prstGeom prst="roundRect">
            <a:avLst>
              <a:gd name="adj" fmla="val 15238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0531" y="6156243"/>
            <a:ext cx="152389" cy="11854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6679" y="137067"/>
            <a:ext cx="3969146" cy="352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99" b="1" i="0">
                <a:solidFill>
                  <a:srgbClr val="A78BFA"/>
                </a:solidFill>
                <a:latin typeface="Courier New"/>
              </a:rPr>
              <a:t>Ubuntu — Stop 01 / 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6561" y="211360"/>
            <a:ext cx="841274" cy="203829"/>
          </a:xfrm>
          <a:prstGeom prst="rect">
            <a:avLst/>
          </a:prstGeom>
          <a:solidFill>
            <a:srgbClr val="161B22"/>
          </a:solidFill>
        </p:spPr>
        <p:txBody>
          <a:bodyPr wrap="none" lIns="91437" tIns="30479" rIns="91437" bIns="30479">
            <a:spAutoFit/>
          </a:bodyPr>
          <a:lstStyle/>
          <a:p>
            <a:pPr algn="l"/>
            <a:r>
              <a:rPr sz="930" b="0" i="0">
                <a:solidFill>
                  <a:srgbClr val="FBBF24"/>
                </a:solidFill>
                <a:latin typeface="Courier New"/>
              </a:rPr>
              <a:t>Est. 2004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8085" y="203740"/>
            <a:ext cx="2149411" cy="219069"/>
          </a:xfrm>
          <a:prstGeom prst="rect">
            <a:avLst/>
          </a:prstGeom>
          <a:solidFill>
            <a:srgbClr val="161B22"/>
          </a:solidFill>
        </p:spPr>
        <p:txBody>
          <a:bodyPr wrap="none" lIns="106677" tIns="38099" rIns="106677" bIns="38099">
            <a:spAutoFit/>
          </a:bodyPr>
          <a:lstStyle/>
          <a:p>
            <a:pPr algn="l"/>
            <a:r>
              <a:rPr sz="988" b="0" i="0">
                <a:solidFill>
                  <a:srgbClr val="34D399"/>
                </a:solidFill>
                <a:latin typeface="Courier New"/>
              </a:rPr>
              <a:t>$ ./distro-hop --stop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891" y="605447"/>
            <a:ext cx="5640742" cy="567259"/>
          </a:xfrm>
          <a:prstGeom prst="rect">
            <a:avLst/>
          </a:prstGeom>
          <a:noFill/>
        </p:spPr>
        <p:txBody>
          <a:bodyPr wrap="square" lIns="152396" tIns="106677" rIns="152396" bIns="106677">
            <a:spAutoFit/>
          </a:bodyPr>
          <a:lstStyle/>
          <a:p>
            <a:pPr algn="l"/>
            <a:r>
              <a:rPr sz="1003" b="0" i="1">
                <a:solidFill>
                  <a:srgbClr val="C9D1D9"/>
                </a:solidFill>
                <a:latin typeface="Inter 18pt"/>
              </a:rPr>
              <a:t>"The distro that convinced an entire generation Linux is easy — then quietly pivoted to enterprise cloud and left beginners reading the manual alone."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713" y="1415766"/>
            <a:ext cx="671495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34D399"/>
                </a:solidFill>
                <a:latin typeface="Courier New"/>
              </a:rPr>
              <a:t>// origin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713" y="1594802"/>
            <a:ext cx="5426137" cy="514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C9D1D9"/>
                </a:solidFill>
                <a:latin typeface="Inter 18pt"/>
              </a:rPr>
              <a:t>Founded 2004 by</a:t>
            </a:r>
            <a:r>
              <a:rPr sz="914" b="0" i="0">
                <a:solidFill>
                  <a:srgbClr val="60A5FA"/>
                </a:solidFill>
                <a:latin typeface="Inter 18pt"/>
              </a:rPr>
              <a:t> Mark Shuttleworth</a:t>
            </a:r>
            <a:r>
              <a:rPr sz="914" b="0" i="0">
                <a:solidFill>
                  <a:srgbClr val="C9D1D9"/>
                </a:solidFill>
                <a:latin typeface="Inter 18pt"/>
              </a:rPr>
              <a:t> &amp; Canonical Ltd. Named after Nguni Bantu philosophy — "humanity to others." Shuttleworth funded from selling Thawte to VeriSign for</a:t>
            </a:r>
            <a:r>
              <a:rPr sz="914" b="0" i="0">
                <a:solidFill>
                  <a:srgbClr val="FBBF24"/>
                </a:solidFill>
                <a:latin typeface="Inter 18pt"/>
              </a:rPr>
              <a:t> $575 million</a:t>
            </a:r>
            <a:r>
              <a:rPr sz="914" b="0" i="0">
                <a:solidFill>
                  <a:srgbClr val="C9D1D9"/>
                </a:solidFill>
                <a:latin typeface="Inter 18pt"/>
              </a:rPr>
              <a:t> . First release: Ubuntu 4.10 "Warty Warthog," October 2004.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713" y="2467806"/>
            <a:ext cx="895327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34D399"/>
                </a:solidFill>
                <a:latin typeface="Courier New"/>
              </a:rPr>
              <a:t>// evolution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13" y="2646841"/>
            <a:ext cx="4982789" cy="33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C9D1D9"/>
                </a:solidFill>
                <a:latin typeface="Inter 18pt"/>
              </a:rPr>
              <a:t>Introduced controversial</a:t>
            </a:r>
            <a:r>
              <a:rPr sz="914" b="0" i="0">
                <a:solidFill>
                  <a:srgbClr val="A78BFA"/>
                </a:solidFill>
                <a:latin typeface="Inter 18pt"/>
              </a:rPr>
              <a:t> Unity desktop</a:t>
            </a:r>
            <a:r>
              <a:rPr sz="914" b="0" i="0">
                <a:solidFill>
                  <a:srgbClr val="C9D1D9"/>
                </a:solidFill>
                <a:latin typeface="Inter 18pt"/>
              </a:rPr>
              <a:t> 2011, dropped it 2017, returned to GNOME. LTS releases every 2 years with 5 years of support.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847" y="3338577"/>
            <a:ext cx="1249529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60A5FA"/>
                </a:solidFill>
                <a:latin typeface="Courier New"/>
              </a:rPr>
              <a:t>// user archetype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847" y="3502284"/>
            <a:ext cx="4747200" cy="313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1" b="0" i="0">
                <a:solidFill>
                  <a:srgbClr val="C9D1D9"/>
                </a:solidFill>
                <a:latin typeface="Inter 18pt"/>
              </a:rPr>
              <a:t>The enthusiastic newcomer who recommends Ubuntu to everyone — including their grandmother and their refrigerator.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7314" y="666435"/>
            <a:ext cx="347356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4" b="1" i="0">
                <a:solidFill>
                  <a:srgbClr val="A78BFA"/>
                </a:solidFill>
                <a:latin typeface="Courier New"/>
              </a:rPr>
              <a:t>2004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810" y="853061"/>
            <a:ext cx="42251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7" b="0" i="0">
                <a:solidFill>
                  <a:srgbClr val="8B949E"/>
                </a:solidFill>
                <a:latin typeface="Inter 18pt"/>
              </a:rPr>
              <a:t>Founded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1452" y="666435"/>
            <a:ext cx="781328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4" b="1" i="0">
                <a:solidFill>
                  <a:srgbClr val="A78BFA"/>
                </a:solidFill>
                <a:latin typeface="Courier New"/>
              </a:rPr>
              <a:t>Canonical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8668" y="853061"/>
            <a:ext cx="50704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7" b="0" i="0">
                <a:solidFill>
                  <a:srgbClr val="8B949E"/>
                </a:solidFill>
                <a:latin typeface="Inter 18pt"/>
              </a:rPr>
              <a:t>Maintainer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562" y="666435"/>
            <a:ext cx="347356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4" b="1" i="0">
                <a:solidFill>
                  <a:srgbClr val="A78BFA"/>
                </a:solidFill>
                <a:latin typeface="Courier New"/>
              </a:rPr>
              <a:t>4.10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284" y="853061"/>
            <a:ext cx="102406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7" b="0" i="0">
                <a:solidFill>
                  <a:srgbClr val="8B949E"/>
                </a:solidFill>
                <a:latin typeface="Inter 18pt"/>
              </a:rPr>
              <a:t>First Release "Warty"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97379" y="666435"/>
            <a:ext cx="43412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4" b="1" i="0">
                <a:solidFill>
                  <a:srgbClr val="A78BFA"/>
                </a:solidFill>
                <a:latin typeface="Courier New"/>
              </a:rPr>
              <a:t>5 yrs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7906" y="853061"/>
            <a:ext cx="59291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7" b="0" i="0">
                <a:solidFill>
                  <a:srgbClr val="8B949E"/>
                </a:solidFill>
                <a:latin typeface="Inter 18pt"/>
              </a:rPr>
              <a:t>LTS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0524" y="1298492"/>
            <a:ext cx="1911351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45" b="0" i="0">
                <a:solidFill>
                  <a:srgbClr val="F87171"/>
                </a:solidFill>
                <a:latin typeface="Segoe UI Emoji"/>
              </a:rPr>
              <a:t>⚠ closed-source asterisks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6560" y="5279843"/>
            <a:ext cx="1071238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3" b="0" i="0">
                <a:solidFill>
                  <a:srgbClr val="FBBF24"/>
                </a:solidFill>
                <a:latin typeface="Courier New"/>
              </a:rPr>
              <a:t>// secret truth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6560" y="5426435"/>
            <a:ext cx="4558044" cy="313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1" b="0" i="0">
                <a:solidFill>
                  <a:srgbClr val="C9D1D9"/>
                </a:solidFill>
                <a:latin typeface="Inter 18pt"/>
              </a:rPr>
              <a:t>Ubuntu is to Linux what training wheels are to cycling — essential at first, slightly embarrassing to still have at age 30.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84299" y="6066380"/>
            <a:ext cx="642772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3" b="0" i="0">
                <a:solidFill>
                  <a:srgbClr val="34D399"/>
                </a:solidFill>
                <a:latin typeface="Courier New"/>
              </a:rPr>
              <a:t>$ verdict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4299" y="6195857"/>
            <a:ext cx="442916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"Perfect entry point. Just don't tell anyone you're still using it in three years."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4792" y="6657808"/>
            <a:ext cx="2040531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8B949E"/>
                </a:solidFill>
                <a:latin typeface="Courier New"/>
              </a:rPr>
              <a:t>ubuntu · canonical ltd · #linux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71769" y="6657808"/>
            <a:ext cx="4015133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8B949E"/>
                </a:solidFill>
                <a:latin typeface="Courier New"/>
              </a:rPr>
              <a:t>Distro Hopping: A Penguin's Guide to Commitment Issues ·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0524" y="1490774"/>
            <a:ext cx="5284456" cy="842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59986" indent="-159986"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ct val="99999"/>
              <a:buFont typeface="Inter" charset="0"/>
              <a:buChar char="●"/>
            </a:pPr>
            <a:r>
              <a:rPr sz="872" b="1" i="0">
                <a:solidFill>
                  <a:srgbClr val="FBBF24"/>
                </a:solidFill>
                <a:latin typeface="Inter 18pt"/>
              </a:rPr>
              <a:t>2012 Amazon Shopping Lens</a:t>
            </a:r>
            <a:r>
              <a:rPr sz="891" b="0" i="0">
                <a:solidFill>
                  <a:srgbClr val="C9D1D9"/>
                </a:solidFill>
                <a:latin typeface="Inter 18pt"/>
              </a:rPr>
              <a:t> — EFF called it spyware; removed 2016</a:t>
            </a:r>
          </a:p>
          <a:p>
            <a:pPr marL="159986" indent="-159986" algn="l">
              <a:lnSpc>
                <a:spcPts val="1249"/>
              </a:lnSpc>
              <a:spcBef>
                <a:spcPts val="419"/>
              </a:spcBef>
              <a:spcAft>
                <a:spcPts val="0"/>
              </a:spcAft>
              <a:buClr>
                <a:srgbClr val="F87171"/>
              </a:buClr>
              <a:buSzPct val="99999"/>
              <a:buFont typeface="Inter" charset="0"/>
              <a:buChar char="●"/>
            </a:pPr>
            <a:r>
              <a:rPr sz="872" b="1" i="0">
                <a:solidFill>
                  <a:srgbClr val="FBBF24"/>
                </a:solidFill>
                <a:latin typeface="Inter 18pt"/>
              </a:rPr>
              <a:t>Snap Store backend</a:t>
            </a:r>
            <a:r>
              <a:rPr sz="891" b="0" i="0">
                <a:solidFill>
                  <a:srgbClr val="C9D1D9"/>
                </a:solidFill>
                <a:latin typeface="Inter 18pt"/>
              </a:rPr>
              <a:t> — proprietary infrastructure</a:t>
            </a:r>
          </a:p>
          <a:p>
            <a:pPr marL="159986" indent="-159986" algn="l">
              <a:lnSpc>
                <a:spcPts val="1249"/>
              </a:lnSpc>
              <a:spcBef>
                <a:spcPts val="419"/>
              </a:spcBef>
              <a:spcAft>
                <a:spcPts val="0"/>
              </a:spcAft>
              <a:buClr>
                <a:srgbClr val="F87171"/>
              </a:buClr>
              <a:buSzPct val="99999"/>
              <a:buFont typeface="Inter" charset="0"/>
              <a:buChar char="●"/>
            </a:pPr>
            <a:r>
              <a:rPr sz="872" b="1" i="0">
                <a:solidFill>
                  <a:srgbClr val="FBBF24"/>
                </a:solidFill>
                <a:latin typeface="Inter 18pt"/>
              </a:rPr>
              <a:t>ubuntu-report telemetry</a:t>
            </a:r>
            <a:r>
              <a:rPr sz="891" b="0" i="0">
                <a:solidFill>
                  <a:srgbClr val="C9D1D9"/>
                </a:solidFill>
                <a:latin typeface="Inter 18pt"/>
              </a:rPr>
              <a:t> — opt-out since 18.04</a:t>
            </a:r>
          </a:p>
          <a:p>
            <a:pPr marL="159986" indent="-159986" algn="l">
              <a:lnSpc>
                <a:spcPts val="1249"/>
              </a:lnSpc>
              <a:spcBef>
                <a:spcPts val="419"/>
              </a:spcBef>
              <a:spcAft>
                <a:spcPts val="0"/>
              </a:spcAft>
              <a:buClr>
                <a:srgbClr val="F87171"/>
              </a:buClr>
              <a:buSzPct val="99999"/>
              <a:buFont typeface="Inter" charset="0"/>
              <a:buChar char="●"/>
            </a:pPr>
            <a:r>
              <a:rPr sz="872" b="1" i="0">
                <a:solidFill>
                  <a:srgbClr val="FBBF24"/>
                </a:solidFill>
                <a:latin typeface="Inter 18pt"/>
              </a:rPr>
              <a:t>FSF</a:t>
            </a:r>
            <a:r>
              <a:rPr sz="891" b="0" i="0">
                <a:solidFill>
                  <a:srgbClr val="C9D1D9"/>
                </a:solidFill>
                <a:latin typeface="Inter 18pt"/>
              </a:rPr>
              <a:t> does not endorse Ubuntu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4790" y="1481881"/>
            <a:ext cx="19050" cy="4749551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19100" y="1451371"/>
            <a:ext cx="152400" cy="152400"/>
          </a:xfrm>
          <a:prstGeom prst="ellipse">
            <a:avLst/>
          </a:prstGeom>
          <a:solidFill>
            <a:srgbClr val="A78BFA"/>
          </a:solidFill>
          <a:ln w="25400">
            <a:solidFill>
              <a:srgbClr val="0D1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19100" y="1938337"/>
            <a:ext cx="152400" cy="152400"/>
          </a:xfrm>
          <a:prstGeom prst="ellipse">
            <a:avLst/>
          </a:prstGeom>
          <a:solidFill>
            <a:srgbClr val="34D399"/>
          </a:solidFill>
          <a:ln w="25400">
            <a:solidFill>
              <a:srgbClr val="0D1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19100" y="2425303"/>
            <a:ext cx="152400" cy="152400"/>
          </a:xfrm>
          <a:prstGeom prst="ellipse">
            <a:avLst/>
          </a:prstGeom>
          <a:solidFill>
            <a:srgbClr val="60A5FA"/>
          </a:solidFill>
          <a:ln w="25400">
            <a:solidFill>
              <a:srgbClr val="0D1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19100" y="3072705"/>
            <a:ext cx="152400" cy="152400"/>
          </a:xfrm>
          <a:prstGeom prst="ellipse">
            <a:avLst/>
          </a:prstGeom>
          <a:solidFill>
            <a:srgbClr val="A78BFA"/>
          </a:solidFill>
          <a:ln w="25400">
            <a:solidFill>
              <a:srgbClr val="0D11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1690" y="1519981"/>
            <a:ext cx="5669309" cy="512266"/>
          </a:xfrm>
          <a:prstGeom prst="roundRect">
            <a:avLst>
              <a:gd name="adj" fmla="val 1115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8128" y="1692282"/>
            <a:ext cx="167576" cy="167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41690" y="2108448"/>
            <a:ext cx="5669309" cy="512266"/>
          </a:xfrm>
          <a:prstGeom prst="roundRect">
            <a:avLst>
              <a:gd name="adj" fmla="val 1115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8602" y="2280733"/>
            <a:ext cx="146629" cy="1675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41690" y="2696914"/>
            <a:ext cx="5669309" cy="512266"/>
          </a:xfrm>
          <a:prstGeom prst="roundRect">
            <a:avLst>
              <a:gd name="adj" fmla="val 1115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8140" y="2879659"/>
            <a:ext cx="167564" cy="14662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41690" y="3331071"/>
            <a:ext cx="5669309" cy="635496"/>
          </a:xfrm>
          <a:prstGeom prst="roundRect">
            <a:avLst>
              <a:gd name="adj" fmla="val 8992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41690" y="3331071"/>
            <a:ext cx="38100" cy="63549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41690" y="4088457"/>
            <a:ext cx="5669309" cy="721221"/>
          </a:xfrm>
          <a:prstGeom prst="roundRect">
            <a:avLst>
              <a:gd name="adj" fmla="val 7924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41690" y="4088457"/>
            <a:ext cx="38100" cy="721221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7651" y="4212028"/>
            <a:ext cx="146629" cy="167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0990" y="304792"/>
            <a:ext cx="4531405" cy="4190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159" b="1" i="0">
                <a:solidFill>
                  <a:srgbClr val="A78BFA"/>
                </a:solidFill>
                <a:latin typeface="Courier New"/>
              </a:rPr>
              <a:t>Debian — Stop 02 / 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6061" y="412422"/>
            <a:ext cx="885177" cy="203829"/>
          </a:xfrm>
          <a:prstGeom prst="rect">
            <a:avLst/>
          </a:prstGeom>
          <a:solidFill>
            <a:srgbClr val="161B22"/>
          </a:solidFill>
        </p:spPr>
        <p:txBody>
          <a:bodyPr wrap="none" lIns="91437" tIns="30479" rIns="91437" bIns="30479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Est. 1993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990" y="815260"/>
            <a:ext cx="577647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70" b="0" i="1">
                <a:solidFill>
                  <a:srgbClr val="8B949E"/>
                </a:solidFill>
                <a:latin typeface="Inter 18pt"/>
              </a:rPr>
              <a:t>"So stable it might actually be older than some of its users — and proud of it."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90" y="1158151"/>
            <a:ext cx="168052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34D399"/>
                </a:solidFill>
                <a:latin typeface="Courier New"/>
              </a:rPr>
              <a:t>// milestone timeline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255" y="1405646"/>
            <a:ext cx="29973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7" b="1" i="0">
                <a:solidFill>
                  <a:srgbClr val="FBBF24"/>
                </a:solidFill>
                <a:latin typeface="Courier New"/>
              </a:rPr>
              <a:t>1993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133" y="1407581"/>
            <a:ext cx="177041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C9D1D9"/>
                </a:solidFill>
                <a:latin typeface="Courier New"/>
              </a:rPr>
              <a:t>Founded by Ian Murdock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133" y="1587509"/>
            <a:ext cx="197817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"Deb" + "Ian" — the name says it 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255" y="1892599"/>
            <a:ext cx="29973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7" b="1" i="0">
                <a:solidFill>
                  <a:srgbClr val="FBBF24"/>
                </a:solidFill>
                <a:latin typeface="Courier New"/>
              </a:rPr>
              <a:t>1996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133" y="1894534"/>
            <a:ext cx="136799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C9D1D9"/>
                </a:solidFill>
                <a:latin typeface="Courier New"/>
              </a:rPr>
              <a:t>Debian 1.1 "Buzz"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133" y="2074463"/>
            <a:ext cx="424179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First stable release — named after Buzz Lightyear. Toy Story tradition begins.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255" y="2379553"/>
            <a:ext cx="29973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7" b="1" i="0">
                <a:solidFill>
                  <a:srgbClr val="FBBF24"/>
                </a:solidFill>
                <a:latin typeface="Courier New"/>
              </a:rPr>
              <a:t>1997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133" y="2381488"/>
            <a:ext cx="965721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C9D1D9"/>
                </a:solidFill>
                <a:latin typeface="Courier New"/>
              </a:rPr>
              <a:t>DFSG Written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133" y="2561416"/>
            <a:ext cx="4574117" cy="303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Debian Free Software Guidelines defined open source — directly inspired the Open Source Definition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255" y="3026939"/>
            <a:ext cx="22487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7" b="1" i="0">
                <a:solidFill>
                  <a:srgbClr val="FBBF24"/>
                </a:solidFill>
                <a:latin typeface="Courier New"/>
              </a:rPr>
              <a:t>APT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133" y="3028874"/>
            <a:ext cx="2575108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C9D1D9"/>
                </a:solidFill>
                <a:latin typeface="Courier New"/>
              </a:rPr>
              <a:t>Package Management Gold Standard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133" y="3208802"/>
            <a:ext cx="476193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APT became the template for modern package managers — decades ahead of its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1536" y="1158151"/>
            <a:ext cx="152039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34D399"/>
                </a:solidFill>
                <a:latin typeface="Courier New"/>
              </a:rPr>
              <a:t>// release branches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7592" y="1620846"/>
            <a:ext cx="49365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1" i="0">
                <a:solidFill>
                  <a:srgbClr val="34D399"/>
                </a:solidFill>
                <a:latin typeface="Courier New"/>
              </a:rPr>
              <a:t>stable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7592" y="1788422"/>
            <a:ext cx="348591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Battle-tested, trusted in production. Moves slowly — by design.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77592" y="2209298"/>
            <a:ext cx="575801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1" i="0">
                <a:solidFill>
                  <a:srgbClr val="FBBF24"/>
                </a:solidFill>
                <a:latin typeface="Courier New"/>
              </a:rPr>
              <a:t>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7592" y="2376874"/>
            <a:ext cx="346969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Next stable in preparation — packages in transit from unstable.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77592" y="2797749"/>
            <a:ext cx="115160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9" b="1" i="0">
                <a:solidFill>
                  <a:srgbClr val="F87171"/>
                </a:solidFill>
                <a:latin typeface="Courier New"/>
              </a:rPr>
              <a:t>unstable (Sid)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7592" y="2965326"/>
            <a:ext cx="345421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Named after the destructive kid in Toy Story. Coincidence? No.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7178" y="3447070"/>
            <a:ext cx="139924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60A5FA"/>
                </a:solidFill>
                <a:latin typeface="Courier New"/>
              </a:rPr>
              <a:t>// spawned distros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6702" y="3643173"/>
            <a:ext cx="556900" cy="197734"/>
          </a:xfrm>
          <a:prstGeom prst="rect">
            <a:avLst/>
          </a:prstGeom>
          <a:solidFill>
            <a:srgbClr val="1C2128"/>
          </a:solidFill>
        </p:spPr>
        <p:txBody>
          <a:bodyPr wrap="none" lIns="76198" tIns="27431" rIns="76198" bIns="27431">
            <a:spAutoFit/>
          </a:bodyPr>
          <a:lstStyle/>
          <a:p>
            <a:pPr algn="l"/>
            <a:r>
              <a:rPr sz="869" b="0" i="0">
                <a:solidFill>
                  <a:srgbClr val="C9D1D9"/>
                </a:solidFill>
                <a:latin typeface="Inter 18pt"/>
              </a:rPr>
              <a:t>Ubuntu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53522" y="3643173"/>
            <a:ext cx="722393" cy="197734"/>
          </a:xfrm>
          <a:prstGeom prst="rect">
            <a:avLst/>
          </a:prstGeom>
          <a:solidFill>
            <a:srgbClr val="1C2128"/>
          </a:solidFill>
        </p:spPr>
        <p:txBody>
          <a:bodyPr wrap="none" lIns="76198" tIns="27431" rIns="76198" bIns="27431">
            <a:spAutoFit/>
          </a:bodyPr>
          <a:lstStyle/>
          <a:p>
            <a:pPr algn="l"/>
            <a:r>
              <a:rPr sz="869" b="0" i="0">
                <a:solidFill>
                  <a:srgbClr val="C9D1D9"/>
                </a:solidFill>
                <a:latin typeface="Inter 18pt"/>
              </a:rPr>
              <a:t>Linux Mint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55834" y="3643173"/>
            <a:ext cx="681169" cy="197734"/>
          </a:xfrm>
          <a:prstGeom prst="rect">
            <a:avLst/>
          </a:prstGeom>
          <a:solidFill>
            <a:srgbClr val="1C2128"/>
          </a:solidFill>
        </p:spPr>
        <p:txBody>
          <a:bodyPr wrap="none" lIns="76198" tIns="27431" rIns="76198" bIns="27431">
            <a:spAutoFit/>
          </a:bodyPr>
          <a:lstStyle/>
          <a:p>
            <a:pPr algn="l"/>
            <a:r>
              <a:rPr sz="869" b="0" i="0">
                <a:solidFill>
                  <a:srgbClr val="C9D1D9"/>
                </a:solidFill>
                <a:latin typeface="Inter 18pt"/>
              </a:rPr>
              <a:t>Kali Linux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16922" y="3643173"/>
            <a:ext cx="660036" cy="197734"/>
          </a:xfrm>
          <a:prstGeom prst="rect">
            <a:avLst/>
          </a:prstGeom>
          <a:solidFill>
            <a:srgbClr val="1C2128"/>
          </a:solidFill>
        </p:spPr>
        <p:txBody>
          <a:bodyPr wrap="none" lIns="76198" tIns="27431" rIns="76198" bIns="27431">
            <a:spAutoFit/>
          </a:bodyPr>
          <a:lstStyle/>
          <a:p>
            <a:pPr algn="l"/>
            <a:r>
              <a:rPr sz="869" b="0" i="0">
                <a:solidFill>
                  <a:srgbClr val="C9D1D9"/>
                </a:solidFill>
                <a:latin typeface="Inter 18pt"/>
              </a:rPr>
              <a:t>Raspbian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6132" y="4196848"/>
            <a:ext cx="1268281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8B949E"/>
                </a:solidFill>
                <a:latin typeface="Courier New"/>
              </a:rPr>
              <a:t>// user archetype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6132" y="4360554"/>
            <a:ext cx="4937993" cy="32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The grey-bearded sysadmin who has strong feelings about free software licensing at dinner parties.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0990" y="6501691"/>
            <a:ext cx="914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34D399"/>
                </a:solidFill>
                <a:latin typeface="Courier New"/>
              </a:rPr>
              <a:t>$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8475" y="6492166"/>
            <a:ext cx="6012059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8B949E"/>
                </a:solidFill>
                <a:latin typeface="Inter 18pt"/>
              </a:rPr>
              <a:t>Debian: bedrock of the Linux ecosystem — opinionated about freedom, slow to ship, and proud of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627072" y="514052"/>
            <a:ext cx="1183927" cy="238125"/>
          </a:xfrm>
          <a:prstGeom prst="roundRect">
            <a:avLst>
              <a:gd name="adj" fmla="val 1600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113829"/>
            <a:ext cx="4343400" cy="1752600"/>
          </a:xfrm>
          <a:prstGeom prst="roundRect">
            <a:avLst>
              <a:gd name="adj" fmla="val 4347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3285" y="1294804"/>
            <a:ext cx="95250" cy="9525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29406" y="1294804"/>
            <a:ext cx="95250" cy="9525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5527" y="1294804"/>
            <a:ext cx="95250" cy="9525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1000" y="2980729"/>
            <a:ext cx="4343400" cy="992237"/>
          </a:xfrm>
          <a:prstGeom prst="roundRect">
            <a:avLst>
              <a:gd name="adj" fmla="val 7679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953000" y="1113829"/>
            <a:ext cx="6858000" cy="887610"/>
          </a:xfrm>
          <a:prstGeom prst="roundRect">
            <a:avLst>
              <a:gd name="adj" fmla="val 8584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9977" y="1280865"/>
            <a:ext cx="106558" cy="814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953000" y="2115740"/>
            <a:ext cx="3371850" cy="1366688"/>
          </a:xfrm>
          <a:prstGeom prst="roundRect">
            <a:avLst>
              <a:gd name="adj" fmla="val 5575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9981" y="2282756"/>
            <a:ext cx="106553" cy="82887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9977" y="2507839"/>
            <a:ext cx="83788" cy="8378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9977" y="2740303"/>
            <a:ext cx="83788" cy="8378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9977" y="2972767"/>
            <a:ext cx="83788" cy="837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439150" y="2115740"/>
            <a:ext cx="3371850" cy="1366688"/>
          </a:xfrm>
          <a:prstGeom prst="roundRect">
            <a:avLst>
              <a:gd name="adj" fmla="val 5575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1959" y="2277081"/>
            <a:ext cx="94726" cy="9446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953000" y="3596729"/>
            <a:ext cx="6858000" cy="329505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53000" y="3596729"/>
            <a:ext cx="38100" cy="329505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0990" y="295267"/>
            <a:ext cx="2139797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39" b="1" i="0">
                <a:solidFill>
                  <a:srgbClr val="A78BFA"/>
                </a:solidFill>
                <a:latin typeface="Courier New"/>
              </a:rPr>
              <a:t>Slackware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990" y="770910"/>
            <a:ext cx="756504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1">
                <a:solidFill>
                  <a:srgbClr val="8B949E"/>
                </a:solidFill>
                <a:latin typeface="Inter 18pt"/>
              </a:rPr>
              <a:t>"The oldest surviving Linux distribution — and every single byte of that age is visible in the install process."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6331" y="523564"/>
            <a:ext cx="1164848" cy="219069"/>
          </a:xfrm>
          <a:prstGeom prst="rect">
            <a:avLst/>
          </a:prstGeom>
          <a:noFill/>
        </p:spPr>
        <p:txBody>
          <a:bodyPr wrap="none" lIns="114297" tIns="38099" rIns="114297" bIns="38099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Stop 03 / 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721" y="1275722"/>
            <a:ext cx="1166039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8B949E"/>
                </a:solidFill>
                <a:latin typeface="Courier New"/>
              </a:rPr>
              <a:t>slackware --stats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271" y="1609089"/>
            <a:ext cx="49900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8B949E"/>
                </a:solidFill>
                <a:latin typeface="Courier New"/>
              </a:rPr>
              <a:t>Founded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1780" y="1609089"/>
            <a:ext cx="101022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8" b="0" i="0">
                <a:solidFill>
                  <a:srgbClr val="34D399"/>
                </a:solidFill>
                <a:latin typeface="Courier New"/>
              </a:rPr>
              <a:t>July 16, 1993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271" y="1828158"/>
            <a:ext cx="78400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8B949E"/>
                </a:solidFill>
                <a:latin typeface="Courier New"/>
              </a:rPr>
              <a:t>Maintainers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22603" y="1828158"/>
            <a:ext cx="170939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8" b="0" i="0">
                <a:solidFill>
                  <a:srgbClr val="34D399"/>
                </a:solidFill>
                <a:latin typeface="Courier New"/>
              </a:rPr>
              <a:t>1 (Patrick Volkerding)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271" y="2047228"/>
            <a:ext cx="114044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8B949E"/>
                </a:solidFill>
                <a:latin typeface="Courier New"/>
              </a:rPr>
              <a:t>Deps Resolved By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8792" y="2047228"/>
            <a:ext cx="23320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8" b="0" i="0">
                <a:solidFill>
                  <a:srgbClr val="F87171"/>
                </a:solidFill>
                <a:latin typeface="Courier New"/>
              </a:rPr>
              <a:t>You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271" y="2266297"/>
            <a:ext cx="92658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8B949E"/>
                </a:solidFill>
                <a:latin typeface="Courier New"/>
              </a:rPr>
              <a:t>GUI Installer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6479" y="2266297"/>
            <a:ext cx="1555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8" b="0" i="0">
                <a:solidFill>
                  <a:srgbClr val="F87171"/>
                </a:solidFill>
                <a:latin typeface="Courier New"/>
              </a:rPr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271" y="2485367"/>
            <a:ext cx="85529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8B949E"/>
                </a:solidFill>
                <a:latin typeface="Courier New"/>
              </a:rPr>
              <a:t>Hand-Holding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6479" y="2485367"/>
            <a:ext cx="1555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88" b="0" i="0">
                <a:solidFill>
                  <a:srgbClr val="F87171"/>
                </a:solidFill>
                <a:latin typeface="Courier New"/>
              </a:rP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2359" y="3127247"/>
            <a:ext cx="136040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8B949E"/>
                </a:solidFill>
                <a:latin typeface="Courier New"/>
              </a:rPr>
              <a:t>Difficulty Rating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94236" y="3277708"/>
            <a:ext cx="1316649" cy="4190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89" b="1" i="0">
                <a:solidFill>
                  <a:srgbClr val="F87171"/>
                </a:solidFill>
                <a:latin typeface="Microsoft YaHei"/>
              </a:rPr>
              <a:t>∞ /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005" y="3702453"/>
            <a:ext cx="1777261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F87171"/>
                </a:solidFill>
                <a:latin typeface="Courier New"/>
              </a:rPr>
              <a:t>You are the package manager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97404" y="1260393"/>
            <a:ext cx="447663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60A5FA"/>
                </a:solidFill>
                <a:latin typeface="Courier New"/>
              </a:rPr>
              <a:t>Origin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9977" y="1471724"/>
            <a:ext cx="6368791" cy="3629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C9D1D9"/>
                </a:solidFill>
                <a:latin typeface="Inter 18pt"/>
              </a:rPr>
              <a:t>Created by Patrick Volkerding, first released July 16, 1993. Based on SLS Linux, published via FTP on funet.fi. "Slackware" was a joke about "slacking off." One of the most widely used distros of the 1990s.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97404" y="2262279"/>
            <a:ext cx="1268281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60A5FA"/>
                </a:solidFill>
                <a:latin typeface="Courier New"/>
              </a:rPr>
              <a:t>Design Philosophy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9963" y="2464085"/>
            <a:ext cx="2452774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6" b="0" i="0">
                <a:solidFill>
                  <a:srgbClr val="C9D1D9"/>
                </a:solidFill>
                <a:latin typeface="Inter 18pt"/>
              </a:rPr>
              <a:t>KISS principle taken to its logical extreme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89963" y="2696549"/>
            <a:ext cx="218578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6" b="0" i="0">
                <a:solidFill>
                  <a:srgbClr val="C9D1D9"/>
                </a:solidFill>
                <a:latin typeface="Inter 18pt"/>
              </a:rPr>
              <a:t>No automatic dependency resolution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89963" y="2929013"/>
            <a:ext cx="202207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6" b="0" i="0">
                <a:solidFill>
                  <a:srgbClr val="C9D1D9"/>
                </a:solidFill>
                <a:latin typeface="Inter 18pt"/>
              </a:rPr>
              <a:t>No GUI installer. No hand-holding.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3467" y="2262279"/>
            <a:ext cx="895327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60A5FA"/>
                </a:solidFill>
                <a:latin typeface="Courier New"/>
              </a:rPr>
              <a:t>One-Man Army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6039" y="2454560"/>
            <a:ext cx="1791845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59" b="1" i="0">
                <a:solidFill>
                  <a:srgbClr val="A78BFA"/>
                </a:solidFill>
                <a:latin typeface="Courier New"/>
              </a:rPr>
              <a:t>Slackware 15.0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6039" y="2751614"/>
            <a:ext cx="3004615" cy="5640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C9D1D9"/>
                </a:solidFill>
                <a:latin typeface="Inter 18pt"/>
              </a:rPr>
              <a:t>Released February 2022 — after a</a:t>
            </a:r>
            <a:r>
              <a:rPr sz="960" b="1" i="0">
                <a:solidFill>
                  <a:srgbClr val="A78BFA"/>
                </a:solidFill>
                <a:latin typeface="Inter 18pt"/>
              </a:rPr>
              <a:t> six-year</a:t>
            </a:r>
            <a:r>
              <a:rPr sz="981" b="0" i="0">
                <a:solidFill>
                  <a:srgbClr val="C9D1D9"/>
                </a:solidFill>
                <a:latin typeface="Inter 18pt"/>
              </a:rPr>
              <a:t> development cycle. Patrick Volkerding maintains it almost entirely alone.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3846" y="3694714"/>
            <a:ext cx="61732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34D399"/>
                </a:solidFill>
                <a:latin typeface="Courier New"/>
              </a:rPr>
              <a:t>$ verdict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548" y="3680427"/>
            <a:ext cx="579165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0" i="1">
                <a:solidFill>
                  <a:srgbClr val="C9D1D9"/>
                </a:solidFill>
                <a:latin typeface="Inter 18pt"/>
              </a:rPr>
              <a:t>"If you can install Slackware from scratch, you can fix literally anything on any system, ever."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0990" y="6486362"/>
            <a:ext cx="6667928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1" b="0" i="1">
                <a:solidFill>
                  <a:srgbClr val="8B949E"/>
                </a:solidFill>
                <a:latin typeface="Inter 18pt"/>
              </a:rPr>
              <a:t>Slackware is the Linux puritan's choice — no conveniences, no excuses, and legendary respect for those who persist.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0448" y="6491125"/>
            <a:ext cx="48025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787C81"/>
                </a:solidFill>
                <a:latin typeface="Courier New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20580" cy="68580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4800" y="1283493"/>
            <a:ext cx="2002482" cy="333375"/>
          </a:xfrm>
          <a:prstGeom prst="roundRect">
            <a:avLst>
              <a:gd name="adj" fmla="val 17142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077" y="1381536"/>
            <a:ext cx="128500" cy="1363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4800" y="1799629"/>
            <a:ext cx="4501455" cy="600075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4800" y="1799629"/>
            <a:ext cx="38100" cy="600075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04800" y="2612975"/>
            <a:ext cx="4501455" cy="298846"/>
          </a:xfrm>
          <a:prstGeom prst="roundRect">
            <a:avLst>
              <a:gd name="adj" fmla="val 15936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706" y="2697591"/>
            <a:ext cx="113292" cy="1294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04800" y="2988022"/>
            <a:ext cx="4501455" cy="298846"/>
          </a:xfrm>
          <a:prstGeom prst="roundRect">
            <a:avLst>
              <a:gd name="adj" fmla="val 15936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8614" y="3079821"/>
            <a:ext cx="129477" cy="11509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04800" y="3363069"/>
            <a:ext cx="4501455" cy="298846"/>
          </a:xfrm>
          <a:prstGeom prst="roundRect">
            <a:avLst>
              <a:gd name="adj" fmla="val 15936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614" y="3454859"/>
            <a:ext cx="129477" cy="11509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04800" y="6153447"/>
            <a:ext cx="4501455" cy="369391"/>
          </a:xfrm>
          <a:prstGeom prst="roundRect">
            <a:avLst>
              <a:gd name="adj" fmla="val 15471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1886" y="6273246"/>
            <a:ext cx="113292" cy="129477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55741" y="335160"/>
            <a:ext cx="6400948" cy="1156692"/>
          </a:xfrm>
          <a:prstGeom prst="roundRect">
            <a:avLst>
              <a:gd name="adj" fmla="val 6587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55741" y="1929854"/>
            <a:ext cx="6400948" cy="510331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55741" y="1929854"/>
            <a:ext cx="38100" cy="51033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21246" y="2038299"/>
            <a:ext cx="137067" cy="13706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455741" y="2531566"/>
            <a:ext cx="6400948" cy="510331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55741" y="2531566"/>
            <a:ext cx="38100" cy="51033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1246" y="2639996"/>
            <a:ext cx="137067" cy="137067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5455741" y="3133278"/>
            <a:ext cx="6400948" cy="510331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55741" y="3133278"/>
            <a:ext cx="38100" cy="510331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21246" y="3250259"/>
            <a:ext cx="137067" cy="119933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455741" y="5945088"/>
            <a:ext cx="6400948" cy="608111"/>
          </a:xfrm>
          <a:prstGeom prst="roundRect">
            <a:avLst>
              <a:gd name="adj" fmla="val 9397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4792" y="335152"/>
            <a:ext cx="102644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8B949E"/>
                </a:solidFill>
                <a:latin typeface="Courier New"/>
              </a:rPr>
              <a:t>stop_04 / 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792" y="519843"/>
            <a:ext cx="1829051" cy="352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799" b="1" i="0">
                <a:solidFill>
                  <a:srgbClr val="A78BFA"/>
                </a:solidFill>
                <a:latin typeface="Courier New"/>
              </a:rPr>
              <a:t>Linux Mint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792" y="910210"/>
            <a:ext cx="2313028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79" b="0" i="0">
                <a:solidFill>
                  <a:srgbClr val="34D399"/>
                </a:solidFill>
                <a:latin typeface="Courier New"/>
              </a:rPr>
              <a:t>$ cat /etc/mint-release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059" y="1388234"/>
            <a:ext cx="151116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3" b="1" i="0">
                <a:solidFill>
                  <a:srgbClr val="34D399"/>
                </a:solidFill>
                <a:latin typeface="Segoe UI Emoji"/>
              </a:rPr>
              <a:t>★ ZERO SNAP TRAUMA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366" y="1818544"/>
            <a:ext cx="4324837" cy="561097"/>
          </a:xfrm>
          <a:prstGeom prst="rect">
            <a:avLst/>
          </a:prstGeom>
          <a:noFill/>
        </p:spPr>
        <p:txBody>
          <a:bodyPr wrap="square" lIns="114297" tIns="99057" rIns="114297" bIns="99057">
            <a:spAutoFit/>
          </a:bodyPr>
          <a:lstStyle/>
          <a:p>
            <a:pPr algn="l"/>
            <a:r>
              <a:rPr sz="981" b="0" i="1">
                <a:solidFill>
                  <a:srgbClr val="C9D1D9"/>
                </a:solidFill>
                <a:latin typeface="Inter 18pt"/>
              </a:rPr>
              <a:t>Everything Ubuntu promised, minus the corporate rebranding and the inexplicable insistence on Snap.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469" y="2695656"/>
            <a:ext cx="48025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8B949E"/>
                </a:solidFill>
                <a:latin typeface="Courier New"/>
              </a:rPr>
              <a:t>Founded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0044" y="2690894"/>
            <a:ext cx="29973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7" b="1" i="0">
                <a:solidFill>
                  <a:srgbClr val="FBBF24"/>
                </a:solidFill>
                <a:latin typeface="Courier New"/>
              </a:rPr>
              <a:t>2006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469" y="3070693"/>
            <a:ext cx="82314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8B949E"/>
                </a:solidFill>
                <a:latin typeface="Courier New"/>
              </a:rPr>
              <a:t>Desktop Born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0044" y="3065931"/>
            <a:ext cx="97420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7" b="1" i="0">
                <a:solidFill>
                  <a:srgbClr val="FBBF24"/>
                </a:solidFill>
                <a:latin typeface="Courier New"/>
              </a:rPr>
              <a:t>Cinnamon 2011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469" y="3445731"/>
            <a:ext cx="754539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8B949E"/>
                </a:solidFill>
                <a:latin typeface="Courier New"/>
              </a:rPr>
              <a:t>DistroWatch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0044" y="3440968"/>
            <a:ext cx="112407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7" b="1" i="0">
                <a:solidFill>
                  <a:srgbClr val="FBBF24"/>
                </a:solidFill>
                <a:latin typeface="Courier New"/>
              </a:rPr>
              <a:t>#1 Most Visited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027" y="6276073"/>
            <a:ext cx="746056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8B949E"/>
                </a:solidFill>
                <a:latin typeface="Courier New"/>
              </a:rPr>
              <a:t>User Type: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93462" y="6261786"/>
            <a:ext cx="113329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4" b="1" i="0">
                <a:solidFill>
                  <a:srgbClr val="C9D1D9"/>
                </a:solidFill>
                <a:latin typeface="Inter 18pt"/>
              </a:rPr>
              <a:t>The Sensible Adult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47886" y="497073"/>
            <a:ext cx="124744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60A5FA"/>
                </a:solidFill>
                <a:latin typeface="Courier New"/>
              </a:rPr>
              <a:t>// origin 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47886" y="725667"/>
            <a:ext cx="5914281" cy="5774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C9D1D9"/>
                </a:solidFill>
                <a:latin typeface="Inter 18pt"/>
              </a:rPr>
              <a:t>Founded 2006 by Clément Lefèbvre as a polished Ubuntu derivative. When Canonical removed GNOME 2 in 2011, Clément forked it and created the</a:t>
            </a:r>
            <a:r>
              <a:rPr sz="960" b="1" i="0">
                <a:solidFill>
                  <a:srgbClr val="C9D1D9"/>
                </a:solidFill>
                <a:latin typeface="Inter 18pt"/>
              </a:rPr>
              <a:t> Cinnamon</a:t>
            </a:r>
            <a:r>
              <a:rPr sz="981" b="0" i="0">
                <a:solidFill>
                  <a:srgbClr val="C9D1D9"/>
                </a:solidFill>
                <a:latin typeface="Inter 18pt"/>
              </a:rPr>
              <a:t> desktop — one of the most beloved DEs in Linux.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5604" y="1674572"/>
            <a:ext cx="158006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34D399"/>
                </a:solidFill>
                <a:latin typeface="Courier New"/>
              </a:rPr>
              <a:t>// why_mint_wins.sh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64872" y="2030708"/>
            <a:ext cx="119892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7" b="1" i="0">
                <a:solidFill>
                  <a:srgbClr val="F0F6FC"/>
                </a:solidFill>
                <a:latin typeface="Courier New"/>
              </a:rPr>
              <a:t>Cinnamon Desktop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64872" y="2196350"/>
            <a:ext cx="368370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1" b="0" i="0">
                <a:solidFill>
                  <a:srgbClr val="8B949E"/>
                </a:solidFill>
                <a:latin typeface="Inter 18pt"/>
              </a:rPr>
              <a:t>Beginner-friendly, no Wayland drama — just works out of the box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64872" y="2632406"/>
            <a:ext cx="119892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7" b="1" i="0">
                <a:solidFill>
                  <a:srgbClr val="F0F6FC"/>
                </a:solidFill>
                <a:latin typeface="Courier New"/>
              </a:rPr>
              <a:t>No Snap Packages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64872" y="2798047"/>
            <a:ext cx="523177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1" b="0" i="0">
                <a:solidFill>
                  <a:srgbClr val="8B949E"/>
                </a:solidFill>
                <a:latin typeface="Inter 18pt"/>
              </a:rPr>
              <a:t>Ships with codecs and apps pre-installed; philosophical opposition to Canonical's packaging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64872" y="3234103"/>
            <a:ext cx="179839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7" b="1" i="0">
                <a:solidFill>
                  <a:srgbClr val="F0F6FC"/>
                </a:solidFill>
                <a:latin typeface="Courier New"/>
              </a:rPr>
              <a:t>Windows Migrants Welcome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64872" y="3399744"/>
            <a:ext cx="474348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1" b="0" i="0">
                <a:solidFill>
                  <a:srgbClr val="8B949E"/>
                </a:solidFill>
                <a:latin typeface="Inter 18pt"/>
              </a:rPr>
              <a:t>Familiar workflows, zero first-boot drama — the easiest path from Windows to Linux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08001" y="6025007"/>
            <a:ext cx="146294" cy="276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61" b="0" i="0">
                <a:solidFill>
                  <a:srgbClr val="A78BFA"/>
                </a:solidFill>
                <a:latin typeface="Courier New"/>
              </a:rPr>
              <a:t>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60853" y="6068761"/>
            <a:ext cx="5797008" cy="3421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5" b="0" i="1">
                <a:solidFill>
                  <a:srgbClr val="C9D1D9"/>
                </a:solidFill>
                <a:latin typeface="Inter 18pt"/>
              </a:rPr>
              <a:t>Mint users are statistically the most likely to actually get work done instead of tweaking dotfiles for six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096565"/>
            <a:ext cx="5943600" cy="451246"/>
          </a:xfrm>
          <a:prstGeom prst="roundRect">
            <a:avLst>
              <a:gd name="adj" fmla="val 844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1000" y="1096565"/>
            <a:ext cx="38100" cy="45124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968" y="1256994"/>
            <a:ext cx="167569" cy="1303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1000" y="1700212"/>
            <a:ext cx="5943600" cy="3754040"/>
          </a:xfrm>
          <a:prstGeom prst="roundRect">
            <a:avLst>
              <a:gd name="adj" fmla="val 2029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0525" y="1709737"/>
            <a:ext cx="5924550" cy="279796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27595" y="1797248"/>
            <a:ext cx="95250" cy="9525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83716" y="1797248"/>
            <a:ext cx="95250" cy="9525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39837" y="1797248"/>
            <a:ext cx="95250" cy="9525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91" y="2936156"/>
            <a:ext cx="5589249" cy="5327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91" y="3602741"/>
            <a:ext cx="5589249" cy="5327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1000" y="5606653"/>
            <a:ext cx="5943600" cy="563760"/>
          </a:xfrm>
          <a:prstGeom prst="roundRect">
            <a:avLst>
              <a:gd name="adj" fmla="val 6758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1000" y="5606653"/>
            <a:ext cx="38100" cy="563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6156" y="5812188"/>
            <a:ext cx="133346" cy="15239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53200" y="1096565"/>
            <a:ext cx="5257800" cy="1150739"/>
          </a:xfrm>
          <a:prstGeom prst="roundRect">
            <a:avLst>
              <a:gd name="adj" fmla="val 6621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53200" y="2399704"/>
            <a:ext cx="5257800" cy="918864"/>
          </a:xfrm>
          <a:prstGeom prst="roundRect">
            <a:avLst>
              <a:gd name="adj" fmla="val 8292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53200" y="3470969"/>
            <a:ext cx="5257800" cy="687585"/>
          </a:xfrm>
          <a:prstGeom prst="roundRect">
            <a:avLst>
              <a:gd name="adj" fmla="val 5541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53200" y="3470969"/>
            <a:ext cx="38100" cy="68758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8677" y="3738461"/>
            <a:ext cx="133346" cy="152403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553200" y="4310955"/>
            <a:ext cx="5257800" cy="1859458"/>
          </a:xfrm>
          <a:prstGeom prst="roundRect">
            <a:avLst>
              <a:gd name="adj" fmla="val 4097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5430" y="4459374"/>
            <a:ext cx="146629" cy="167576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990" y="6441566"/>
            <a:ext cx="159986" cy="15998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0990" y="304792"/>
            <a:ext cx="140906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8" b="0" i="0">
                <a:solidFill>
                  <a:srgbClr val="8B949E"/>
                </a:solidFill>
                <a:latin typeface="Courier New"/>
              </a:rPr>
              <a:t>// stop 05 of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990" y="468499"/>
            <a:ext cx="2852963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39" b="1" i="0">
                <a:solidFill>
                  <a:srgbClr val="A78BFA"/>
                </a:solidFill>
                <a:latin typeface="Courier New"/>
              </a:rPr>
              <a:t>Arch Linux</a:t>
            </a:r>
            <a:r>
              <a:rPr sz="2339" b="1" i="0">
                <a:solidFill>
                  <a:srgbClr val="60A5FA"/>
                </a:solidFill>
                <a:latin typeface="Courier New"/>
              </a:rPr>
              <a:t> 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1266" y="512134"/>
            <a:ext cx="1196607" cy="194305"/>
          </a:xfrm>
          <a:prstGeom prst="rect">
            <a:avLst/>
          </a:prstGeom>
          <a:solidFill>
            <a:srgbClr val="1C2128"/>
          </a:solidFill>
        </p:spPr>
        <p:txBody>
          <a:bodyPr wrap="none" lIns="83817" tIns="30479" rIns="83817" bIns="30479">
            <a:spAutoFit/>
          </a:bodyPr>
          <a:lstStyle/>
          <a:p>
            <a:pPr algn="l"/>
            <a:r>
              <a:rPr sz="872" b="0" i="0">
                <a:solidFill>
                  <a:srgbClr val="34D399"/>
                </a:solidFill>
                <a:latin typeface="Courier New"/>
              </a:rPr>
              <a:t>Rolling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3062" y="512134"/>
            <a:ext cx="784959" cy="194305"/>
          </a:xfrm>
          <a:prstGeom prst="rect">
            <a:avLst/>
          </a:prstGeom>
          <a:solidFill>
            <a:srgbClr val="1C2128"/>
          </a:solidFill>
        </p:spPr>
        <p:txBody>
          <a:bodyPr wrap="none" lIns="83817" tIns="30479" rIns="83817" bIns="30479">
            <a:spAutoFit/>
          </a:bodyPr>
          <a:lstStyle/>
          <a:p>
            <a:pPr algn="l"/>
            <a:r>
              <a:rPr sz="872" b="0" i="0">
                <a:solidFill>
                  <a:srgbClr val="A78BFA"/>
                </a:solidFill>
                <a:latin typeface="Courier New"/>
              </a:rPr>
              <a:t>Est. 2002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73209" y="512134"/>
            <a:ext cx="1127999" cy="194305"/>
          </a:xfrm>
          <a:prstGeom prst="rect">
            <a:avLst/>
          </a:prstGeom>
          <a:solidFill>
            <a:srgbClr val="1C2128"/>
          </a:solidFill>
        </p:spPr>
        <p:txBody>
          <a:bodyPr wrap="none" lIns="83817" tIns="30479" rIns="83817" bIns="30479">
            <a:spAutoFit/>
          </a:bodyPr>
          <a:lstStyle/>
          <a:p>
            <a:pPr algn="l"/>
            <a:r>
              <a:rPr sz="872" b="0" i="0">
                <a:solidFill>
                  <a:srgbClr val="60A5FA"/>
                </a:solidFill>
                <a:latin typeface="Courier New"/>
              </a:rPr>
              <a:t>KISS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834" y="1212621"/>
            <a:ext cx="1901975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9" b="1" i="0">
                <a:solidFill>
                  <a:srgbClr val="F0F6FC"/>
                </a:solidFill>
                <a:latin typeface="Courier New"/>
              </a:rPr>
              <a:t>"I use Arch btw"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130" y="1778153"/>
            <a:ext cx="89175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8B949E"/>
                </a:solidFill>
                <a:latin typeface="Courier New"/>
              </a:rPr>
              <a:t>arch-daily.sh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091" y="2141880"/>
            <a:ext cx="9599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1" b="0" i="0">
                <a:solidFill>
                  <a:srgbClr val="34D399"/>
                </a:solidFill>
                <a:latin typeface="Courier New"/>
              </a:rPr>
              <a:t>$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281" y="2141880"/>
            <a:ext cx="105516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1" b="0" i="0">
                <a:solidFill>
                  <a:srgbClr val="60A5FA"/>
                </a:solidFill>
                <a:latin typeface="Courier New"/>
              </a:rPr>
              <a:t>sudo pacman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61644" y="2141880"/>
            <a:ext cx="383818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1" b="0" i="0">
                <a:solidFill>
                  <a:srgbClr val="A78BFA"/>
                </a:solidFill>
                <a:latin typeface="Courier New"/>
              </a:rPr>
              <a:t>-Syu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21660" y="2160930"/>
            <a:ext cx="222090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46" b="0" i="0">
                <a:solidFill>
                  <a:srgbClr val="8B949E"/>
                </a:solidFill>
                <a:latin typeface="Courier New"/>
              </a:rPr>
              <a:t># update everything, always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091" y="2406639"/>
            <a:ext cx="3777609" cy="180970"/>
          </a:xfrm>
          <a:prstGeom prst="rect">
            <a:avLst/>
          </a:prstGeom>
          <a:noFill/>
        </p:spPr>
        <p:txBody>
          <a:bodyPr wrap="none" lIns="228594" tIns="0" rIns="0" bIns="0">
            <a:spAutoFit/>
          </a:bodyPr>
          <a:lstStyle/>
          <a:p>
            <a:pPr algn="l"/>
            <a:r>
              <a:rPr sz="1221" b="0" i="0">
                <a:solidFill>
                  <a:srgbClr val="34D399"/>
                </a:solidFill>
                <a:latin typeface="Courier New"/>
              </a:rPr>
              <a:t>:: Synchronizing package databases...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8091" y="2671398"/>
            <a:ext cx="3489932" cy="180970"/>
          </a:xfrm>
          <a:prstGeom prst="rect">
            <a:avLst/>
          </a:prstGeom>
          <a:noFill/>
        </p:spPr>
        <p:txBody>
          <a:bodyPr wrap="none" lIns="228594" tIns="0" rIns="0" bIns="0">
            <a:spAutoFit/>
          </a:bodyPr>
          <a:lstStyle/>
          <a:p>
            <a:pPr algn="l"/>
            <a:r>
              <a:rPr sz="1221" b="0" i="0">
                <a:solidFill>
                  <a:srgbClr val="34D399"/>
                </a:solidFill>
                <a:latin typeface="Courier New"/>
              </a:rPr>
              <a:t>:: Starting full system upgrade...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8091" y="3073223"/>
            <a:ext cx="9599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1" b="0" i="0">
                <a:solidFill>
                  <a:srgbClr val="34D399"/>
                </a:solidFill>
                <a:latin typeface="Courier New"/>
              </a:rPr>
              <a:t>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0281" y="3073223"/>
            <a:ext cx="383818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1" b="0" i="0">
                <a:solidFill>
                  <a:srgbClr val="60A5FA"/>
                </a:solidFill>
                <a:latin typeface="Courier New"/>
              </a:rPr>
              <a:t>echo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90297" y="3073223"/>
            <a:ext cx="153482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1" b="0" i="0">
                <a:solidFill>
                  <a:srgbClr val="A78BFA"/>
                </a:solidFill>
                <a:latin typeface="Courier New"/>
              </a:rPr>
              <a:t>"btw i use arch"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8091" y="3337982"/>
            <a:ext cx="1571585" cy="180970"/>
          </a:xfrm>
          <a:prstGeom prst="rect">
            <a:avLst/>
          </a:prstGeom>
          <a:noFill/>
        </p:spPr>
        <p:txBody>
          <a:bodyPr wrap="none" lIns="228594" tIns="0" rIns="0" bIns="0">
            <a:spAutoFit/>
          </a:bodyPr>
          <a:lstStyle/>
          <a:p>
            <a:pPr algn="l"/>
            <a:r>
              <a:rPr sz="1221" b="0" i="0">
                <a:solidFill>
                  <a:srgbClr val="34D399"/>
                </a:solidFill>
                <a:latin typeface="Courier New"/>
              </a:rPr>
              <a:t>btw i use arch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8091" y="3739808"/>
            <a:ext cx="9599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1" b="0" i="0">
                <a:solidFill>
                  <a:srgbClr val="34D399"/>
                </a:solidFill>
                <a:latin typeface="Courier New"/>
              </a:rPr>
              <a:t>$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0281" y="3739808"/>
            <a:ext cx="28782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1" b="0" i="0">
                <a:solidFill>
                  <a:srgbClr val="60A5FA"/>
                </a:solidFill>
                <a:latin typeface="Courier New"/>
              </a:rPr>
              <a:t>cat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4305" y="3739808"/>
            <a:ext cx="1438834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1" b="0" i="0">
                <a:solidFill>
                  <a:srgbClr val="A78BFA"/>
                </a:solidFill>
                <a:latin typeface="Courier New"/>
              </a:rPr>
              <a:t>/etc/os-release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09338" y="3758857"/>
            <a:ext cx="90485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46" b="0" i="0">
                <a:solidFill>
                  <a:srgbClr val="8B949E"/>
                </a:solidFill>
                <a:latin typeface="Courier New"/>
              </a:rPr>
              <a:t>| grep NAME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8091" y="4004567"/>
            <a:ext cx="1859263" cy="180970"/>
          </a:xfrm>
          <a:prstGeom prst="rect">
            <a:avLst/>
          </a:prstGeom>
          <a:noFill/>
        </p:spPr>
        <p:txBody>
          <a:bodyPr wrap="none" lIns="228594" tIns="0" rIns="0" bIns="0">
            <a:spAutoFit/>
          </a:bodyPr>
          <a:lstStyle/>
          <a:p>
            <a:pPr algn="l"/>
            <a:r>
              <a:rPr sz="1221" b="0" i="0">
                <a:solidFill>
                  <a:srgbClr val="34D399"/>
                </a:solidFill>
                <a:latin typeface="Courier New"/>
              </a:rPr>
              <a:t>NAME="Arch Linux"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996" y="5699825"/>
            <a:ext cx="4848847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36" b="1" i="0">
                <a:solidFill>
                  <a:srgbClr val="34D399"/>
                </a:solidFill>
                <a:latin typeface="Inter 18pt"/>
              </a:rPr>
              <a:t>The Arch Wiki</a:t>
            </a:r>
            <a:r>
              <a:rPr sz="1059" b="0" i="0">
                <a:solidFill>
                  <a:srgbClr val="C9D1D9"/>
                </a:solidFill>
                <a:latin typeface="Inter 18pt"/>
              </a:rPr>
              <a:t> — so thorough that users on other distros consult it daily.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996" y="5895976"/>
            <a:ext cx="3163709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36" b="1" i="0">
                <a:solidFill>
                  <a:srgbClr val="34D399"/>
                </a:solidFill>
                <a:latin typeface="Inter 18pt"/>
              </a:rPr>
              <a:t>The finest documentation in all of computing.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4957" y="1235540"/>
            <a:ext cx="691140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8B949E"/>
                </a:solidFill>
                <a:latin typeface="Courier New"/>
              </a:rPr>
              <a:t>// origin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14957" y="1431690"/>
            <a:ext cx="4782174" cy="654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0" i="0">
                <a:solidFill>
                  <a:srgbClr val="C9D1D9"/>
                </a:solidFill>
                <a:latin typeface="Inter 18pt"/>
              </a:rPr>
              <a:t>Created</a:t>
            </a:r>
            <a:r>
              <a:rPr sz="1145" b="1" i="0">
                <a:solidFill>
                  <a:srgbClr val="60A5FA"/>
                </a:solidFill>
                <a:latin typeface="Inter 18pt"/>
              </a:rPr>
              <a:t> 2002</a:t>
            </a:r>
            <a:r>
              <a:rPr sz="1170" b="0" i="0">
                <a:solidFill>
                  <a:srgbClr val="C9D1D9"/>
                </a:solidFill>
                <a:latin typeface="Inter 18pt"/>
              </a:rPr>
              <a:t> by Judd Vinet, inspired by minimalist CRUX Linux.
            Leadership passed to Aaron Griffin in</a:t>
            </a:r>
            <a:r>
              <a:rPr sz="1145" b="1" i="0">
                <a:solidFill>
                  <a:srgbClr val="60A5FA"/>
                </a:solidFill>
                <a:latin typeface="Inter 18pt"/>
              </a:rPr>
              <a:t> 2007</a:t>
            </a:r>
            <a:r>
              <a:rPr sz="1170" b="0" i="0">
                <a:solidFill>
                  <a:srgbClr val="C9D1D9"/>
                </a:solidFill>
                <a:latin typeface="Inter 18pt"/>
              </a:rPr>
              <a:t> , then community-led from</a:t>
            </a:r>
            <a:r>
              <a:rPr sz="1145" b="1" i="0">
                <a:solidFill>
                  <a:srgbClr val="60A5FA"/>
                </a:solidFill>
                <a:latin typeface="Inter 18pt"/>
              </a:rPr>
              <a:t> 2020</a:t>
            </a:r>
            <a:r>
              <a:rPr sz="1170" b="0" i="0">
                <a:solidFill>
                  <a:srgbClr val="C9D1D9"/>
                </a:solidFill>
                <a:latin typeface="Inter 18pt"/>
              </a:rPr>
              <a:t> 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14957" y="2538646"/>
            <a:ext cx="1843041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8B949E"/>
                </a:solidFill>
                <a:latin typeface="Courier New"/>
              </a:rPr>
              <a:t>// rolling release model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14957" y="2734797"/>
            <a:ext cx="4694814" cy="4223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0" i="0">
                <a:solidFill>
                  <a:srgbClr val="C9D1D9"/>
                </a:solidFill>
                <a:latin typeface="Inter 18pt"/>
              </a:rPr>
              <a:t>No "Arch 2.0" —</a:t>
            </a:r>
            <a:r>
              <a:rPr sz="1145" b="1" i="0">
                <a:solidFill>
                  <a:srgbClr val="60A5FA"/>
                </a:solidFill>
                <a:latin typeface="Inter 18pt"/>
              </a:rPr>
              <a:t> install once, update continuously forever.</a:t>
            </a:r>
            <a:r>
              <a:rPr sz="1170" b="0" i="0">
                <a:solidFill>
                  <a:srgbClr val="C9D1D9"/>
                </a:solidFill>
                <a:latin typeface="Inter 18pt"/>
              </a:rPr>
              <a:t> Packages stay cutting-edge; users stay reading upgrade notes.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8582" y="3571785"/>
            <a:ext cx="4591083" cy="4857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FBBF24"/>
                </a:solidFill>
                <a:latin typeface="Inter 18pt"/>
              </a:rPr>
              <a:t>"I use Arch btw"</a:t>
            </a:r>
            <a:r>
              <a:rPr sz="1003" b="0" i="0">
                <a:solidFill>
                  <a:srgbClr val="C9D1D9"/>
                </a:solidFill>
                <a:latin typeface="Inter 18pt"/>
              </a:rPr>
              <a:t> originated on Linux forums ~2011, went mainstream on Reddit by 2018.
            In 2021,</a:t>
            </a:r>
            <a:r>
              <a:rPr sz="981" b="1" i="0">
                <a:solidFill>
                  <a:srgbClr val="FBBF24"/>
                </a:solidFill>
                <a:latin typeface="Inter 18pt"/>
              </a:rPr>
              <a:t> archinstall</a:t>
            </a:r>
            <a:r>
              <a:rPr sz="1003" b="0" i="0">
                <a:solidFill>
                  <a:srgbClr val="C9D1D9"/>
                </a:solidFill>
                <a:latin typeface="Inter 18pt"/>
              </a:rPr>
              <a:t> made setup less terrifying. The smugness remains.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73911" y="4481251"/>
            <a:ext cx="1305487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A78BFA"/>
                </a:solidFill>
                <a:latin typeface="Courier New"/>
              </a:rPr>
              <a:t>// user archetype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14957" y="4712673"/>
            <a:ext cx="4833667" cy="411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15" b="0" i="1">
                <a:solidFill>
                  <a:srgbClr val="C9D1D9"/>
                </a:solidFill>
                <a:latin typeface="Inter 18pt"/>
              </a:rPr>
              <a:t>"The person who mentions their OS in unrelated conversations, their dating profile,
            and their last will and testament."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5749" y="6332061"/>
            <a:ext cx="7062461" cy="297172"/>
          </a:xfrm>
          <a:prstGeom prst="rect">
            <a:avLst/>
          </a:prstGeom>
          <a:noFill/>
        </p:spPr>
        <p:txBody>
          <a:bodyPr wrap="none" lIns="0" tIns="106677" rIns="0" bIns="0">
            <a:spAutoFit/>
          </a:bodyPr>
          <a:lstStyle/>
          <a:p>
            <a:pPr algn="l"/>
            <a:r>
              <a:rPr sz="1170" b="0" i="1">
                <a:solidFill>
                  <a:srgbClr val="8B949E"/>
                </a:solidFill>
                <a:latin typeface="Inter 18pt"/>
              </a:rPr>
              <a:t>Arch is the Linux enthusiast's rite of passage — minimalist by design, maximalist by reputation.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15908" y="764232"/>
            <a:ext cx="2395091" cy="239910"/>
          </a:xfrm>
          <a:prstGeom prst="roundRect">
            <a:avLst>
              <a:gd name="adj" fmla="val 1588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52748" y="834160"/>
            <a:ext cx="114289" cy="10000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" y="1600795"/>
            <a:ext cx="11430000" cy="578941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000" y="1600795"/>
            <a:ext cx="38100" cy="578941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1000" y="2362497"/>
            <a:ext cx="4114800" cy="1929110"/>
          </a:xfrm>
          <a:prstGeom prst="roundRect">
            <a:avLst>
              <a:gd name="adj" fmla="val 395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1000" y="4474368"/>
            <a:ext cx="4114800" cy="1485751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271" y="4915223"/>
            <a:ext cx="129477" cy="12947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271" y="5160932"/>
            <a:ext cx="129477" cy="12947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271" y="5406641"/>
            <a:ext cx="129477" cy="12947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271" y="5652350"/>
            <a:ext cx="129477" cy="12947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709070" y="2632918"/>
            <a:ext cx="7101929" cy="653950"/>
          </a:xfrm>
          <a:prstGeom prst="roundRect">
            <a:avLst>
              <a:gd name="adj" fmla="val 8739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9440" y="2771854"/>
            <a:ext cx="119933" cy="1370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709070" y="3423939"/>
            <a:ext cx="7101929" cy="653950"/>
          </a:xfrm>
          <a:prstGeom prst="roundRect">
            <a:avLst>
              <a:gd name="adj" fmla="val 8739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9440" y="3562856"/>
            <a:ext cx="119933" cy="13706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709070" y="4214961"/>
            <a:ext cx="7101929" cy="653950"/>
          </a:xfrm>
          <a:prstGeom prst="roundRect">
            <a:avLst>
              <a:gd name="adj" fmla="val 8739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9440" y="4353857"/>
            <a:ext cx="119933" cy="13706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709070" y="5036343"/>
            <a:ext cx="7101929" cy="419844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09070" y="5036343"/>
            <a:ext cx="38100" cy="41984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0990" y="380990"/>
            <a:ext cx="176133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8" b="0" i="0">
                <a:solidFill>
                  <a:srgbClr val="8B949E"/>
                </a:solidFill>
                <a:latin typeface="Courier New"/>
              </a:rPr>
              <a:t>// honorable mention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90" y="784602"/>
            <a:ext cx="1407878" cy="3809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79" b="1" i="0">
                <a:solidFill>
                  <a:srgbClr val="A78BFA"/>
                </a:solidFill>
                <a:latin typeface="Courier New"/>
              </a:rPr>
              <a:t>FreeBSD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3235" y="817492"/>
            <a:ext cx="193040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1" b="1" i="0">
                <a:solidFill>
                  <a:srgbClr val="0D1117"/>
                </a:solidFill>
                <a:latin typeface="Courier New"/>
              </a:rPr>
              <a:t>NOT LINUX · HONORARY UNIX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960" y="1699723"/>
            <a:ext cx="585103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1" b="0" i="1">
                <a:solidFill>
                  <a:srgbClr val="C9D1D9"/>
                </a:solidFill>
                <a:latin typeface="Courier New"/>
              </a:rPr>
              <a:t>"Not Linux. Not even close. And that is precisely the point."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1960" y="1918793"/>
            <a:ext cx="3433527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3" b="0" i="0">
                <a:solidFill>
                  <a:srgbClr val="8B949E"/>
                </a:solidFill>
                <a:latin typeface="Inter 18pt"/>
              </a:rPr>
              <a:t>FreeBSD users do not hop. They arrived. They stayed.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271" y="2524359"/>
            <a:ext cx="136040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34D399"/>
                </a:solidFill>
                <a:latin typeface="Courier New"/>
              </a:rPr>
              <a:t>$ freebsd --stats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271" y="2840462"/>
            <a:ext cx="45986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8B949E"/>
                </a:solidFill>
                <a:latin typeface="Inter 18pt"/>
              </a:rPr>
              <a:t>Lineage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4080" y="2845224"/>
            <a:ext cx="69932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4" b="1" i="0">
                <a:solidFill>
                  <a:srgbClr val="60A5FA"/>
                </a:solidFill>
                <a:latin typeface="Courier New"/>
              </a:rPr>
              <a:t>30+ years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3271" y="3108941"/>
            <a:ext cx="369828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8B949E"/>
                </a:solidFill>
                <a:latin typeface="Inter 18pt"/>
              </a:rPr>
              <a:t>Kernel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37813" y="3113704"/>
            <a:ext cx="116559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4" b="1" i="0">
                <a:solidFill>
                  <a:srgbClr val="60A5FA"/>
                </a:solidFill>
                <a:latin typeface="Courier New"/>
              </a:rPr>
              <a:t>Own (not Linux)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271" y="3377420"/>
            <a:ext cx="72819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8B949E"/>
                </a:solidFill>
                <a:latin typeface="Inter 18pt"/>
              </a:rPr>
              <a:t>ZFS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7139" y="3382183"/>
            <a:ext cx="46626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4" b="1" i="0">
                <a:solidFill>
                  <a:srgbClr val="34D399"/>
                </a:solidFill>
                <a:latin typeface="Courier New"/>
              </a:rPr>
              <a:t>Native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271" y="3645900"/>
            <a:ext cx="76287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8B949E"/>
                </a:solidFill>
                <a:latin typeface="Inter 18pt"/>
              </a:rPr>
              <a:t>Last Reinstall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92512" y="3650662"/>
            <a:ext cx="31089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4" b="1" i="0">
                <a:solidFill>
                  <a:srgbClr val="60A5FA"/>
                </a:solidFill>
                <a:latin typeface="Courier New"/>
              </a:rPr>
              <a:t>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3271" y="3914379"/>
            <a:ext cx="552138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8B949E"/>
                </a:solidFill>
                <a:latin typeface="Inter 18pt"/>
              </a:rPr>
              <a:t>Reliability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3186" y="3919141"/>
            <a:ext cx="101022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4" b="1" i="0">
                <a:solidFill>
                  <a:srgbClr val="34D399"/>
                </a:solidFill>
                <a:latin typeface="Courier New"/>
              </a:rPr>
              <a:t>Battle-tested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3271" y="4636177"/>
            <a:ext cx="120041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34D399"/>
                </a:solidFill>
                <a:latin typeface="Courier New"/>
              </a:rPr>
              <a:t>$ runs-on --all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307" y="4899001"/>
            <a:ext cx="408671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C9D1D9"/>
                </a:solidFill>
                <a:latin typeface="Inter 18pt"/>
              </a:rPr>
              <a:t>Netflix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307" y="5144710"/>
            <a:ext cx="71272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C9D1D9"/>
                </a:solidFill>
                <a:latin typeface="Inter 18pt"/>
              </a:rPr>
              <a:t>PlayStation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307" y="5390419"/>
            <a:ext cx="661673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C9D1D9"/>
                </a:solidFill>
                <a:latin typeface="Inter 18pt"/>
              </a:rPr>
              <a:t>WhatsApp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307" y="5636128"/>
            <a:ext cx="110383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C9D1D9"/>
                </a:solidFill>
                <a:latin typeface="Inter 18pt"/>
              </a:rPr>
              <a:t>Your home router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8952" y="2362438"/>
            <a:ext cx="120041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FBBF24"/>
                </a:solidFill>
                <a:latin typeface="Courier New"/>
              </a:rPr>
              <a:t>// key_points[]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2238" y="2766199"/>
            <a:ext cx="6521187" cy="3745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C9D1D9"/>
                </a:solidFill>
                <a:latin typeface="Inter 18pt"/>
              </a:rPr>
              <a:t>FreeBSD is a</a:t>
            </a:r>
            <a:r>
              <a:rPr sz="1003" b="1" i="0">
                <a:solidFill>
                  <a:srgbClr val="A78BFA"/>
                </a:solidFill>
                <a:latin typeface="Inter 18pt"/>
              </a:rPr>
              <a:t> complete UNIX-like OS</a:t>
            </a:r>
            <a:r>
              <a:rPr sz="1025" b="0" i="0">
                <a:solidFill>
                  <a:srgbClr val="C9D1D9"/>
                </a:solidFill>
                <a:latin typeface="Inter 18pt"/>
              </a:rPr>
              <a:t> with its own kernel and userland — not a Linux distribution, not a derivative. A separate lineage entirely.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2238" y="3557200"/>
            <a:ext cx="5883028" cy="3745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3" b="1" i="0">
                <a:solidFill>
                  <a:srgbClr val="A78BFA"/>
                </a:solidFill>
                <a:latin typeface="Inter 18pt"/>
              </a:rPr>
              <a:t>Native ZFS support</a:t>
            </a:r>
            <a:r>
              <a:rPr sz="1025" b="0" i="0">
                <a:solidFill>
                  <a:srgbClr val="C9D1D9"/>
                </a:solidFill>
                <a:latin typeface="Inter 18pt"/>
              </a:rPr>
              <a:t> years before Linux caught up. When everyone else was arguing about filesystems, FreeBSD already had the answer.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2238" y="4348202"/>
            <a:ext cx="6210144" cy="3745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C9D1D9"/>
                </a:solidFill>
                <a:latin typeface="Inter 18pt"/>
              </a:rPr>
              <a:t>The</a:t>
            </a:r>
            <a:r>
              <a:rPr sz="1003" b="1" i="0">
                <a:solidFill>
                  <a:srgbClr val="A78BFA"/>
                </a:solidFill>
                <a:latin typeface="Inter 18pt"/>
              </a:rPr>
              <a:t> FreeBSD Handbook</a:t>
            </a:r>
            <a:r>
              <a:rPr sz="1025" b="0" i="0">
                <a:solidFill>
                  <a:srgbClr val="C9D1D9"/>
                </a:solidFill>
                <a:latin typeface="Inter 18pt"/>
              </a:rPr>
              <a:t> makes the Arch Wiki feel like a README. Comprehensive, precise, and maintained with the rigor of the OS itself.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89923" y="5159890"/>
            <a:ext cx="746056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FBBF24"/>
                </a:solidFill>
                <a:latin typeface="Courier New"/>
              </a:rPr>
              <a:t>archetype: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42538" y="5161825"/>
            <a:ext cx="513459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0" i="1">
                <a:solidFill>
                  <a:srgbClr val="C9D1D9"/>
                </a:solidFill>
                <a:latin typeface="Inter 18pt"/>
              </a:rPr>
              <a:t>The ex-Linux user who grew tired of kernel politics — hasn't reinstalled since 2017.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0990" y="6324441"/>
            <a:ext cx="626312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8B949E"/>
                </a:solidFill>
                <a:latin typeface="Inter 18pt"/>
              </a:rPr>
              <a:t>FreeBSD earns its honorable mention with 30+ years of powering the internet's most demanding workloads.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0939" y="6333966"/>
            <a:ext cx="240976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8B949E"/>
                </a:solidFill>
                <a:latin typeface="Courier New"/>
              </a:rPr>
              <a:t>// honorable_mention · slide_08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81000" y="1463724"/>
            <a:ext cx="11430000" cy="34290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463724"/>
            <a:ext cx="38100" cy="3429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81000" y="2153245"/>
            <a:ext cx="5376713" cy="3321843"/>
          </a:xfrm>
          <a:prstGeom prst="roundRect">
            <a:avLst>
              <a:gd name="adj" fmla="val 114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1000" y="2153245"/>
            <a:ext cx="38100" cy="3321843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41" y="2579871"/>
            <a:ext cx="5012852" cy="9137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41" y="3219815"/>
            <a:ext cx="5012852" cy="9137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41" y="4682610"/>
            <a:ext cx="5012852" cy="9137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1000" y="5581650"/>
            <a:ext cx="5376713" cy="764381"/>
          </a:xfrm>
          <a:prstGeom prst="roundRect">
            <a:avLst>
              <a:gd name="adj" fmla="val 4984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86313" y="2229445"/>
            <a:ext cx="1727150" cy="298846"/>
          </a:xfrm>
          <a:prstGeom prst="roundRect">
            <a:avLst>
              <a:gd name="adj" fmla="val 1912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7119" y="2310201"/>
            <a:ext cx="102800" cy="13706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97254" y="2229445"/>
            <a:ext cx="1652141" cy="298846"/>
          </a:xfrm>
          <a:prstGeom prst="roundRect">
            <a:avLst>
              <a:gd name="adj" fmla="val 1912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5164" y="2318757"/>
            <a:ext cx="124224" cy="11995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533185" y="2229445"/>
            <a:ext cx="1877020" cy="298846"/>
          </a:xfrm>
          <a:prstGeom prst="roundRect">
            <a:avLst>
              <a:gd name="adj" fmla="val 1912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6768" y="2310201"/>
            <a:ext cx="137067" cy="13706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986313" y="2612082"/>
            <a:ext cx="1352401" cy="298846"/>
          </a:xfrm>
          <a:prstGeom prst="roundRect">
            <a:avLst>
              <a:gd name="adj" fmla="val 1912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9985" y="2700443"/>
            <a:ext cx="137055" cy="12183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422505" y="2612082"/>
            <a:ext cx="1877020" cy="298846"/>
          </a:xfrm>
          <a:prstGeom prst="roundRect">
            <a:avLst>
              <a:gd name="adj" fmla="val 1912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8416" y="2695104"/>
            <a:ext cx="132516" cy="13251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986313" y="3048000"/>
            <a:ext cx="5824686" cy="1131986"/>
          </a:xfrm>
          <a:prstGeom prst="roundRect">
            <a:avLst>
              <a:gd name="adj" fmla="val 5048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986313" y="4317057"/>
            <a:ext cx="5824686" cy="733722"/>
          </a:xfrm>
          <a:prstGeom prst="roundRect">
            <a:avLst>
              <a:gd name="adj" fmla="val 7789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32755" y="4440643"/>
            <a:ext cx="146592" cy="167533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986313" y="5187850"/>
            <a:ext cx="5824686" cy="517624"/>
          </a:xfrm>
          <a:prstGeom prst="roundRect">
            <a:avLst>
              <a:gd name="adj" fmla="val 11040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86313" y="5187850"/>
            <a:ext cx="38100" cy="51762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36635" y="5295255"/>
            <a:ext cx="137057" cy="11993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0990" y="304792"/>
            <a:ext cx="264193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8" b="0" i="0">
                <a:solidFill>
                  <a:srgbClr val="8B949E"/>
                </a:solidFill>
                <a:latin typeface="Courier New"/>
              </a:rPr>
              <a:t>// stop 06 / 06 · grand finale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990" y="708404"/>
            <a:ext cx="1005755" cy="3809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79" b="1" i="0">
                <a:solidFill>
                  <a:srgbClr val="34D399"/>
                </a:solidFill>
                <a:latin typeface="Courier New"/>
              </a:rPr>
              <a:t>Nix</a:t>
            </a:r>
            <a:r>
              <a:rPr sz="1979" b="1" i="0">
                <a:solidFill>
                  <a:srgbClr val="A78BFA"/>
                </a:solidFill>
                <a:latin typeface="Courier New"/>
              </a:rPr>
              <a:t> 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98599" y="304762"/>
            <a:ext cx="812224" cy="224784"/>
          </a:xfrm>
          <a:prstGeom prst="rect">
            <a:avLst/>
          </a:prstGeom>
          <a:solidFill>
            <a:srgbClr val="A78BFA"/>
          </a:solidFill>
        </p:spPr>
        <p:txBody>
          <a:bodyPr wrap="none" lIns="106677" tIns="45718" rIns="106677" bIns="45718">
            <a:spAutoFit/>
          </a:bodyPr>
          <a:lstStyle/>
          <a:p>
            <a:pPr algn="l"/>
            <a:r>
              <a:rPr sz="701" b="1" i="0">
                <a:solidFill>
                  <a:srgbClr val="0D1117"/>
                </a:solidFill>
                <a:latin typeface="Courier New"/>
              </a:rPr>
              <a:t>ENDGAME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1960" y="1539886"/>
            <a:ext cx="635376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70" b="0" i="1">
                <a:solidFill>
                  <a:srgbClr val="C9D1D9"/>
                </a:solidFill>
                <a:latin typeface="Inter 18pt"/>
              </a:rPr>
              <a:t>"You have tried every other distro. You are ready. Welcome to the final boss of Linux."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0990" y="1958975"/>
            <a:ext cx="266574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8B949E"/>
                </a:solidFill>
                <a:latin typeface="Courier New"/>
              </a:rPr>
              <a:t>$ cat /etc/nixos/configuration.nix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141" y="2353211"/>
            <a:ext cx="73162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60A5FA"/>
                </a:solidFill>
                <a:latin typeface="Courier New"/>
              </a:rPr>
              <a:t>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4959" y="2353211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2684" y="2353211"/>
            <a:ext cx="45733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60A5FA"/>
                </a:solidFill>
                <a:latin typeface="Courier New"/>
              </a:rPr>
              <a:t>nginx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86220" y="2353211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53945" y="2353211"/>
            <a:ext cx="54871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60A5FA"/>
                </a:solidFill>
                <a:latin typeface="Courier New"/>
              </a:rPr>
              <a:t>enable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78859" y="2353211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=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46584" y="2353211"/>
            <a:ext cx="36581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34D399"/>
                </a:solidFill>
                <a:latin typeface="Courier New"/>
              </a:rPr>
              <a:t>true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88592" y="2353211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141" y="2718872"/>
            <a:ext cx="45733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60A5FA"/>
                </a:solidFill>
                <a:latin typeface="Courier New"/>
              </a:rPr>
              <a:t>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676" y="2718872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8401" y="2718872"/>
            <a:ext cx="45733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60A5FA"/>
                </a:solidFill>
                <a:latin typeface="Courier New"/>
              </a:rPr>
              <a:t>users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11937" y="2718872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79662" y="2718872"/>
            <a:ext cx="45733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60A5FA"/>
                </a:solidFill>
                <a:latin typeface="Courier New"/>
              </a:rPr>
              <a:t>alice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3197" y="2718872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80922" y="2718872"/>
            <a:ext cx="1097431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60A5FA"/>
                </a:solidFill>
                <a:latin typeface="Courier New"/>
              </a:rPr>
              <a:t>isNormalUser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7021" y="2993156"/>
            <a:ext cx="274402" cy="171445"/>
          </a:xfrm>
          <a:prstGeom prst="rect">
            <a:avLst/>
          </a:prstGeom>
          <a:noFill/>
        </p:spPr>
        <p:txBody>
          <a:bodyPr wrap="none" lIns="182875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=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7622" y="2993156"/>
            <a:ext cx="36581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34D399"/>
                </a:solidFill>
                <a:latin typeface="Courier New"/>
              </a:rPr>
              <a:t>true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69630" y="2993156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7141" y="3358817"/>
            <a:ext cx="100605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60A5FA"/>
                </a:solidFill>
                <a:latin typeface="Courier New"/>
              </a:rPr>
              <a:t>environment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59392" y="3358817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7117" y="3358817"/>
            <a:ext cx="1280336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60A5FA"/>
                </a:solidFill>
                <a:latin typeface="Courier New"/>
              </a:rPr>
              <a:t>systemPackages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7021" y="3633101"/>
            <a:ext cx="274402" cy="171445"/>
          </a:xfrm>
          <a:prstGeom prst="rect">
            <a:avLst/>
          </a:prstGeom>
          <a:noFill/>
        </p:spPr>
        <p:txBody>
          <a:bodyPr wrap="none" lIns="182875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=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7622" y="3633101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FBBF24"/>
                </a:solidFill>
                <a:latin typeface="Courier New"/>
              </a:rPr>
              <a:t>[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000" y="3907384"/>
            <a:ext cx="36581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60A5FA"/>
                </a:solidFill>
                <a:latin typeface="Courier New"/>
              </a:rPr>
              <a:t>pkgs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61009" y="3907384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28734" y="3907384"/>
            <a:ext cx="27443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F472B6"/>
                </a:solidFill>
                <a:latin typeface="Courier New"/>
              </a:rPr>
              <a:t>git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9000" y="4181668"/>
            <a:ext cx="36581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60A5FA"/>
                </a:solidFill>
                <a:latin typeface="Courier New"/>
              </a:rPr>
              <a:t>pkgs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61009" y="4181668"/>
            <a:ext cx="9152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C9D1D9"/>
                </a:solidFill>
                <a:latin typeface="Courier New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28734" y="4181668"/>
            <a:ext cx="27443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F472B6"/>
                </a:solidFill>
                <a:latin typeface="Courier New"/>
              </a:rPr>
              <a:t>vim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7141" y="4455951"/>
            <a:ext cx="18290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FBBF24"/>
                </a:solidFill>
                <a:latin typeface="Courier New"/>
              </a:rPr>
              <a:t>];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7141" y="4821612"/>
            <a:ext cx="219486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8B949E"/>
                </a:solidFill>
                <a:latin typeface="Courier New"/>
              </a:rPr>
              <a:t># $ nixos-rebuild switch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7141" y="5095896"/>
            <a:ext cx="3109388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3" b="0" i="0">
                <a:solidFill>
                  <a:srgbClr val="8B949E"/>
                </a:solidFill>
                <a:latin typeface="Courier New"/>
              </a:rPr>
              <a:t># atomic update. rollback anytime.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402" y="5691938"/>
            <a:ext cx="4678592" cy="5274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8B949E"/>
                </a:solidFill>
                <a:latin typeface="Inter 18pt"/>
              </a:rPr>
              <a:t>Born from</a:t>
            </a:r>
            <a:r>
              <a:rPr sz="914" b="0" i="0">
                <a:solidFill>
                  <a:srgbClr val="60A5FA"/>
                </a:solidFill>
                <a:latin typeface="Inter 18pt"/>
              </a:rPr>
              <a:t> Eelco Dolstra's 2003 PhD</a:t>
            </a:r>
            <a:r>
              <a:rPr sz="914" b="0" i="0">
                <a:solidFill>
                  <a:srgbClr val="8B949E"/>
                </a:solidFill>
                <a:latin typeface="Inter 18pt"/>
              </a:rPr>
              <a:t> at Utrecht University.
            Packages installed via cryptographic hashes in an immutable store.</a:t>
            </a:r>
            <a:r>
              <a:rPr sz="914" b="0" i="0">
                <a:solidFill>
                  <a:srgbClr val="60A5FA"/>
                </a:solidFill>
                <a:latin typeface="Inter 18pt"/>
              </a:rPr>
              <a:t> NixOS 1.0</a:t>
            </a:r>
            <a:r>
              <a:rPr sz="914" b="0" i="0">
                <a:solidFill>
                  <a:srgbClr val="8B949E"/>
                </a:solidFill>
                <a:latin typeface="Inter 18pt"/>
              </a:rPr>
              <a:t> shipped 2013 — by 2022, "infrastructure as code" made it fashionable.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86163" y="1958975"/>
            <a:ext cx="133287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8B949E"/>
                </a:solidFill>
                <a:latin typeface="Courier New"/>
              </a:rPr>
              <a:t>// key.features[]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15512" y="2307373"/>
            <a:ext cx="127393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C9D1D9"/>
                </a:solidFill>
                <a:latin typeface="Courier New"/>
              </a:rPr>
              <a:t>Fully Declarative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26407" y="2307373"/>
            <a:ext cx="119892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C9D1D9"/>
                </a:solidFill>
                <a:latin typeface="Courier New"/>
              </a:rPr>
              <a:t>Atomic Rollbacks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62295" y="2307373"/>
            <a:ext cx="142380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C9D1D9"/>
                </a:solidFill>
                <a:latin typeface="Courier New"/>
              </a:rPr>
              <a:t>Reproducible Builds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15512" y="2690001"/>
            <a:ext cx="89919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C9D1D9"/>
                </a:solidFill>
                <a:latin typeface="Courier New"/>
              </a:rPr>
              <a:t>Home Manager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51667" y="2690001"/>
            <a:ext cx="142380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3" b="0" i="0">
                <a:solidFill>
                  <a:srgbClr val="C9D1D9"/>
                </a:solidFill>
                <a:latin typeface="Courier New"/>
              </a:rPr>
              <a:t>Functional Nix Lang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32755" y="3171745"/>
            <a:ext cx="171014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FBBF24"/>
                </a:solidFill>
                <a:latin typeface="Courier New"/>
              </a:rPr>
              <a:t>// WHY_IT_IS_DIFFERENT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32755" y="3411650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5" b="0" i="0">
                <a:solidFill>
                  <a:srgbClr val="60A5FA"/>
                </a:solidFill>
                <a:latin typeface="Microsoft YaHei"/>
              </a:rPr>
              <a:t>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86789" y="3383076"/>
            <a:ext cx="3111174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3" b="0" i="0">
                <a:solidFill>
                  <a:srgbClr val="C9D1D9"/>
                </a:solidFill>
                <a:latin typeface="Inter 18pt"/>
              </a:rPr>
              <a:t>Not just a package manager — a new</a:t>
            </a:r>
            <a:r>
              <a:rPr sz="1003" b="0" i="0">
                <a:solidFill>
                  <a:srgbClr val="A78BFA"/>
                </a:solidFill>
                <a:latin typeface="Inter 18pt"/>
              </a:rPr>
              <a:t> philosophy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32755" y="3656913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5" b="0" i="0">
                <a:solidFill>
                  <a:srgbClr val="60A5FA"/>
                </a:solidFill>
                <a:latin typeface="Microsoft YaHei"/>
              </a:rPr>
              <a:t>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86789" y="3628338"/>
            <a:ext cx="3303306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3" b="0" i="0">
                <a:solidFill>
                  <a:srgbClr val="C9D1D9"/>
                </a:solidFill>
                <a:latin typeface="Inter 18pt"/>
              </a:rPr>
              <a:t>Every package is a</a:t>
            </a:r>
            <a:r>
              <a:rPr sz="1003" b="0" i="0">
                <a:solidFill>
                  <a:srgbClr val="A78BFA"/>
                </a:solidFill>
                <a:latin typeface="Inter 18pt"/>
              </a:rPr>
              <a:t> pure function</a:t>
            </a:r>
            <a:r>
              <a:rPr sz="1003" b="0" i="0">
                <a:solidFill>
                  <a:srgbClr val="C9D1D9"/>
                </a:solidFill>
                <a:latin typeface="Inter 18pt"/>
              </a:rPr>
              <a:t> . The OS is a value.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32755" y="3902175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5" b="0" i="0">
                <a:solidFill>
                  <a:srgbClr val="60A5FA"/>
                </a:solidFill>
                <a:latin typeface="Microsoft YaHei"/>
              </a:rPr>
              <a:t>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86789" y="3873601"/>
            <a:ext cx="3914677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3" b="0" i="0">
                <a:solidFill>
                  <a:srgbClr val="C9D1D9"/>
                </a:solidFill>
                <a:latin typeface="Inter 18pt"/>
              </a:rPr>
              <a:t>Your config is a</a:t>
            </a:r>
            <a:r>
              <a:rPr sz="1003" b="0" i="0">
                <a:solidFill>
                  <a:srgbClr val="34D399"/>
                </a:solidFill>
                <a:latin typeface="Inter 18pt"/>
              </a:rPr>
              <a:t> Git repo</a:t>
            </a:r>
            <a:r>
              <a:rPr sz="1003" b="0" i="0">
                <a:solidFill>
                  <a:srgbClr val="C9D1D9"/>
                </a:solidFill>
                <a:latin typeface="Inter 18pt"/>
              </a:rPr>
              <a:t> . Dotfiles, shell, editor — all managed.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70726" y="4425442"/>
            <a:ext cx="1029120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7" b="0" i="0">
                <a:solidFill>
                  <a:srgbClr val="A78BFA"/>
                </a:solidFill>
                <a:latin typeface="Courier New"/>
              </a:rPr>
              <a:t>USER_ARCHETYPE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70726" y="4589149"/>
            <a:ext cx="5251417" cy="33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47" b="0" i="1">
                <a:solidFill>
                  <a:srgbClr val="C9D1D9"/>
                </a:solidFill>
                <a:latin typeface="Inter 18pt"/>
              </a:rPr>
              <a:t>"Cannot explain NixOS without first explaining what a monad is. Described as 'a cult — but the good kind.'"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49890" y="5281033"/>
            <a:ext cx="5050504" cy="32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"Once you use NixOS, you cannot go back — not because it's perfect, but because the sunk-cost fallacy is now load-bearing."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0990" y="6486362"/>
            <a:ext cx="358443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34D399"/>
                </a:solidFill>
                <a:latin typeface="Courier New"/>
              </a:rPr>
              <a:t>nixos</a:t>
            </a:r>
            <a:r>
              <a:rPr sz="930" b="0" i="0">
                <a:solidFill>
                  <a:srgbClr val="8B949E"/>
                </a:solidFill>
                <a:latin typeface="Courier New"/>
              </a:rPr>
              <a:t> @endgame ~ $</a:t>
            </a:r>
            <a:r>
              <a:rPr sz="930" b="0" i="0">
                <a:solidFill>
                  <a:srgbClr val="A78BFA"/>
                </a:solidFill>
                <a:latin typeface="Courier New"/>
              </a:rPr>
              <a:t> nixos-rebuild switch --upgrade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98599" y="6486362"/>
            <a:ext cx="51210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2688133"/>
            <a:ext cx="1981497" cy="2048916"/>
          </a:xfrm>
          <a:prstGeom prst="roundRect">
            <a:avLst>
              <a:gd name="adj" fmla="val 3845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402" y="2832723"/>
            <a:ext cx="167576" cy="1675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4188" y="3645728"/>
            <a:ext cx="76212" cy="1333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743200" y="2688133"/>
            <a:ext cx="1981497" cy="2048916"/>
          </a:xfrm>
          <a:prstGeom prst="roundRect">
            <a:avLst>
              <a:gd name="adj" fmla="val 3845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5016" y="2832723"/>
            <a:ext cx="146629" cy="16757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6329" y="3645728"/>
            <a:ext cx="76212" cy="1333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05400" y="2688133"/>
            <a:ext cx="1981497" cy="2048916"/>
          </a:xfrm>
          <a:prstGeom prst="roundRect">
            <a:avLst>
              <a:gd name="adj" fmla="val 3845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6684" y="2832723"/>
            <a:ext cx="167576" cy="167576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8470" y="3645728"/>
            <a:ext cx="76212" cy="13339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67599" y="2688133"/>
            <a:ext cx="1981497" cy="2048916"/>
          </a:xfrm>
          <a:prstGeom prst="roundRect">
            <a:avLst>
              <a:gd name="adj" fmla="val 3845"/>
            </a:avLst>
          </a:prstGeom>
          <a:solidFill>
            <a:srgbClr val="1A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9298" y="2832723"/>
            <a:ext cx="146629" cy="167576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10611" y="3645728"/>
            <a:ext cx="76212" cy="1333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829800" y="2688133"/>
            <a:ext cx="1981497" cy="2048916"/>
          </a:xfrm>
          <a:prstGeom prst="roundRect">
            <a:avLst>
              <a:gd name="adj" fmla="val 3845"/>
            </a:avLst>
          </a:prstGeom>
          <a:solidFill>
            <a:srgbClr val="0D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60966" y="2874617"/>
            <a:ext cx="167576" cy="837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0990" y="295267"/>
            <a:ext cx="7370082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39" b="1" i="0">
                <a:solidFill>
                  <a:srgbClr val="A78BFA"/>
                </a:solidFill>
                <a:latin typeface="Courier New"/>
              </a:rPr>
              <a:t>The Distro Hopper's Progression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990" y="793829"/>
            <a:ext cx="8068961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6" b="0" i="1">
                <a:solidFill>
                  <a:srgbClr val="8B949E"/>
                </a:solidFill>
                <a:latin typeface="Inter 18pt"/>
              </a:rPr>
              <a:t>"Every Linux user follows the same arc — it is basically a spiritual journey with more terminal windows."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402" y="3110727"/>
            <a:ext cx="570592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7" b="1" i="0">
                <a:solidFill>
                  <a:srgbClr val="8B949E"/>
                </a:solidFill>
                <a:latin typeface="Courier New"/>
              </a:rPr>
              <a:t>STAGE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402" y="3295418"/>
            <a:ext cx="67149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4" b="1" i="0">
                <a:solidFill>
                  <a:srgbClr val="60A5FA"/>
                </a:solidFill>
                <a:latin typeface="Courier New"/>
              </a:rPr>
              <a:t>Curious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402" y="3537258"/>
            <a:ext cx="1555661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C9D1D9"/>
                </a:solidFill>
                <a:latin typeface="Inter 18pt"/>
              </a:rPr>
              <a:t>"I'll just try Ubuntu, it looks friendly"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362" y="3966021"/>
            <a:ext cx="1404783" cy="342891"/>
          </a:xfrm>
          <a:prstGeom prst="rect">
            <a:avLst/>
          </a:prstGeom>
          <a:solidFill>
            <a:srgbClr val="0D1117"/>
          </a:solidFill>
        </p:spPr>
        <p:txBody>
          <a:bodyPr wrap="square" lIns="60958" tIns="38099" rIns="60958" bIns="38099">
            <a:spAutoFit/>
          </a:bodyPr>
          <a:lstStyle/>
          <a:p>
            <a:pPr algn="l"/>
            <a:r>
              <a:rPr sz="906" b="0" i="0">
                <a:solidFill>
                  <a:srgbClr val="34D399"/>
                </a:solidFill>
                <a:latin typeface="Courier New"/>
              </a:rPr>
              <a:t>$ sudo apt install hope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4543" y="3110727"/>
            <a:ext cx="570592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7" b="1" i="0">
                <a:solidFill>
                  <a:srgbClr val="8B949E"/>
                </a:solidFill>
                <a:latin typeface="Courier New"/>
              </a:rPr>
              <a:t>STAGE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74543" y="3295418"/>
            <a:ext cx="105516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4" b="1" i="0">
                <a:solidFill>
                  <a:srgbClr val="FBBF24"/>
                </a:solidFill>
                <a:latin typeface="Courier New"/>
              </a:rPr>
              <a:t>Opinionated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4543" y="3537258"/>
            <a:ext cx="1439131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C9D1D9"/>
                </a:solidFill>
                <a:latin typeface="Inter 18pt"/>
              </a:rPr>
              <a:t>"Actually, Debian is more stable"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93503" y="3966021"/>
            <a:ext cx="1191071" cy="209544"/>
          </a:xfrm>
          <a:prstGeom prst="rect">
            <a:avLst/>
          </a:prstGeom>
          <a:solidFill>
            <a:srgbClr val="0D1117"/>
          </a:solidFill>
        </p:spPr>
        <p:txBody>
          <a:bodyPr wrap="none" lIns="60958" tIns="38099" rIns="60958" bIns="38099">
            <a:spAutoFit/>
          </a:bodyPr>
          <a:lstStyle/>
          <a:p>
            <a:pPr algn="l"/>
            <a:r>
              <a:rPr sz="906" b="0" i="0">
                <a:solidFill>
                  <a:srgbClr val="34D399"/>
                </a:solidFill>
                <a:latin typeface="Courier New"/>
              </a:rPr>
              <a:t>$ man stability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6684" y="3110727"/>
            <a:ext cx="570592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7" b="1" i="0">
                <a:solidFill>
                  <a:srgbClr val="8B949E"/>
                </a:solidFill>
                <a:latin typeface="Courier New"/>
              </a:rPr>
              <a:t>STAGE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6684" y="3295418"/>
            <a:ext cx="863330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4" b="1" i="0">
                <a:solidFill>
                  <a:srgbClr val="F87171"/>
                </a:solidFill>
                <a:latin typeface="Courier New"/>
              </a:rPr>
              <a:t>Dangerous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6684" y="3537258"/>
            <a:ext cx="1717284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C9D1D9"/>
                </a:solidFill>
                <a:latin typeface="Inter 18pt"/>
              </a:rPr>
              <a:t>"Have you considered Arch? I use Arch btw"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5644" y="3966021"/>
            <a:ext cx="1404783" cy="209544"/>
          </a:xfrm>
          <a:prstGeom prst="rect">
            <a:avLst/>
          </a:prstGeom>
          <a:solidFill>
            <a:srgbClr val="0D1117"/>
          </a:solidFill>
        </p:spPr>
        <p:txBody>
          <a:bodyPr wrap="none" lIns="60958" tIns="38099" rIns="60958" bIns="38099">
            <a:spAutoFit/>
          </a:bodyPr>
          <a:lstStyle/>
          <a:p>
            <a:pPr algn="l"/>
            <a:r>
              <a:rPr sz="906" b="0" i="0">
                <a:solidFill>
                  <a:srgbClr val="34D399"/>
                </a:solidFill>
                <a:latin typeface="Courier New"/>
              </a:rPr>
              <a:t>$ btw --i-use-arch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825" y="3110727"/>
            <a:ext cx="570592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7" b="1" i="0">
                <a:solidFill>
                  <a:srgbClr val="8B949E"/>
                </a:solidFill>
                <a:latin typeface="Courier New"/>
              </a:rPr>
              <a:t>STAGE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825" y="3295418"/>
            <a:ext cx="105516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4" b="1" i="0">
                <a:solidFill>
                  <a:srgbClr val="A78BFA"/>
                </a:solidFill>
                <a:latin typeface="Courier New"/>
              </a:rPr>
              <a:t>Enlightened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8825" y="3537258"/>
            <a:ext cx="1237326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C9D1D9"/>
                </a:solidFill>
                <a:latin typeface="Inter 18pt"/>
              </a:rPr>
              <a:t>"My entire OS is a Git repository"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7785" y="3966021"/>
            <a:ext cx="1547357" cy="342891"/>
          </a:xfrm>
          <a:prstGeom prst="rect">
            <a:avLst/>
          </a:prstGeom>
          <a:solidFill>
            <a:srgbClr val="0D1117"/>
          </a:solidFill>
        </p:spPr>
        <p:txBody>
          <a:bodyPr wrap="square" lIns="60958" tIns="38099" rIns="60958" bIns="38099">
            <a:spAutoFit/>
          </a:bodyPr>
          <a:lstStyle/>
          <a:p>
            <a:pPr algn="l"/>
            <a:r>
              <a:rPr sz="906" b="0" i="0">
                <a:solidFill>
                  <a:srgbClr val="34D399"/>
                </a:solidFill>
                <a:latin typeface="Courier New"/>
              </a:rPr>
              <a:t>$ git commit -m "os: exist"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0966" y="3110727"/>
            <a:ext cx="570592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7" b="1" i="0">
                <a:solidFill>
                  <a:srgbClr val="8B949E"/>
                </a:solidFill>
                <a:latin typeface="Courier New"/>
              </a:rPr>
              <a:t>STAGE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0966" y="3295418"/>
            <a:ext cx="115115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4" b="1" i="0">
                <a:solidFill>
                  <a:srgbClr val="34D399"/>
                </a:solidFill>
                <a:latin typeface="Courier New"/>
              </a:rPr>
              <a:t>Transcendent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0966" y="3537258"/>
            <a:ext cx="1636473" cy="285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36" b="0" i="0">
                <a:solidFill>
                  <a:srgbClr val="8B949E"/>
                </a:solidFill>
                <a:latin typeface="Inter 18pt"/>
              </a:rPr>
              <a:t>Helps strangers on forums at 2 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0966" y="3845771"/>
            <a:ext cx="115398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6" b="0" i="0">
                <a:solidFill>
                  <a:srgbClr val="8B949E"/>
                </a:solidFill>
                <a:latin typeface="Inter 18pt"/>
              </a:rPr>
              <a:t>Runs 4 distros in VMs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0966" y="4011412"/>
            <a:ext cx="1603880" cy="285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36" b="0" i="0">
                <a:solidFill>
                  <a:srgbClr val="8B949E"/>
                </a:solidFill>
                <a:latin typeface="Inter 18pt"/>
              </a:rPr>
              <a:t>Uses Windows at work — tells no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79926" y="4388385"/>
            <a:ext cx="1404783" cy="209544"/>
          </a:xfrm>
          <a:prstGeom prst="rect">
            <a:avLst/>
          </a:prstGeom>
          <a:solidFill>
            <a:srgbClr val="0D1117"/>
          </a:solidFill>
        </p:spPr>
        <p:txBody>
          <a:bodyPr wrap="none" lIns="60958" tIns="38099" rIns="60958" bIns="38099">
            <a:spAutoFit/>
          </a:bodyPr>
          <a:lstStyle/>
          <a:p>
            <a:pPr algn="l"/>
            <a:r>
              <a:rPr sz="906" b="0" i="0">
                <a:solidFill>
                  <a:srgbClr val="34D399"/>
                </a:solidFill>
                <a:latin typeface="Courier New"/>
              </a:rPr>
              <a:t>$ ssh stranger@2am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0990" y="6486362"/>
            <a:ext cx="247301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Source: programmerhumor.io/memes/distros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11696" y="6491125"/>
            <a:ext cx="49900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6" b="0" i="0">
                <a:solidFill>
                  <a:srgbClr val="8B949E"/>
                </a:solidFill>
                <a:latin typeface="Courier New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017835"/>
            <a:ext cx="3733353" cy="2603896"/>
          </a:xfrm>
          <a:prstGeom prst="roundRect">
            <a:avLst>
              <a:gd name="adj" fmla="val 292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58105" y="1179760"/>
            <a:ext cx="335160" cy="33516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339" y="1274978"/>
            <a:ext cx="144657" cy="14465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8105" y="1575792"/>
            <a:ext cx="759172" cy="197941"/>
          </a:xfrm>
          <a:prstGeom prst="roundRect">
            <a:avLst>
              <a:gd name="adj" fmla="val 19248"/>
            </a:avLst>
          </a:prstGeom>
          <a:solidFill>
            <a:srgbClr val="2D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28653" y="1017835"/>
            <a:ext cx="3733353" cy="2603896"/>
          </a:xfrm>
          <a:prstGeom prst="roundRect">
            <a:avLst>
              <a:gd name="adj" fmla="val 292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405758" y="1179760"/>
            <a:ext cx="335160" cy="33516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5416" y="1274978"/>
            <a:ext cx="135616" cy="14386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405758" y="1575792"/>
            <a:ext cx="918120" cy="197941"/>
          </a:xfrm>
          <a:prstGeom prst="roundRect">
            <a:avLst>
              <a:gd name="adj" fmla="val 19248"/>
            </a:avLst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76307" y="1017835"/>
            <a:ext cx="3733353" cy="2603896"/>
          </a:xfrm>
          <a:prstGeom prst="roundRect">
            <a:avLst>
              <a:gd name="adj" fmla="val 292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53412" y="1179760"/>
            <a:ext cx="335160" cy="3351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8460" y="1291057"/>
            <a:ext cx="144650" cy="11252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53412" y="1575792"/>
            <a:ext cx="713779" cy="197941"/>
          </a:xfrm>
          <a:prstGeom prst="roundRect">
            <a:avLst>
              <a:gd name="adj" fmla="val 19248"/>
            </a:avLst>
          </a:prstGeom>
          <a:solidFill>
            <a:srgbClr val="1A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1000" y="3736032"/>
            <a:ext cx="3733353" cy="2603896"/>
          </a:xfrm>
          <a:prstGeom prst="roundRect">
            <a:avLst>
              <a:gd name="adj" fmla="val 292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58105" y="3897957"/>
            <a:ext cx="335160" cy="3351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339" y="4002127"/>
            <a:ext cx="144657" cy="12659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58105" y="4293989"/>
            <a:ext cx="978396" cy="197941"/>
          </a:xfrm>
          <a:prstGeom prst="roundRect">
            <a:avLst>
              <a:gd name="adj" fmla="val 19248"/>
            </a:avLst>
          </a:prstGeom>
          <a:solidFill>
            <a:srgbClr val="1A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228653" y="3736032"/>
            <a:ext cx="3733353" cy="2603896"/>
          </a:xfrm>
          <a:prstGeom prst="roundRect">
            <a:avLst>
              <a:gd name="adj" fmla="val 292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405758" y="3897957"/>
            <a:ext cx="335160" cy="33516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0906" y="4002148"/>
            <a:ext cx="144646" cy="12657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05758" y="4293989"/>
            <a:ext cx="953690" cy="197941"/>
          </a:xfrm>
          <a:prstGeom prst="roundRect">
            <a:avLst>
              <a:gd name="adj" fmla="val 19248"/>
            </a:avLst>
          </a:prstGeom>
          <a:solidFill>
            <a:srgbClr val="1A1F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76307" y="3736032"/>
            <a:ext cx="3733353" cy="2603896"/>
          </a:xfrm>
          <a:prstGeom prst="roundRect">
            <a:avLst>
              <a:gd name="adj" fmla="val 292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53412" y="3897957"/>
            <a:ext cx="335160" cy="33516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57480" y="3993107"/>
            <a:ext cx="126582" cy="144657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253412" y="4293989"/>
            <a:ext cx="951755" cy="197941"/>
          </a:xfrm>
          <a:prstGeom prst="roundRect">
            <a:avLst>
              <a:gd name="adj" fmla="val 19248"/>
            </a:avLst>
          </a:prstGeom>
          <a:solidFill>
            <a:srgbClr val="22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0990" y="304792"/>
            <a:ext cx="6234998" cy="3809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79" b="1" i="0">
                <a:solidFill>
                  <a:srgbClr val="A78BFA"/>
                </a:solidFill>
                <a:latin typeface="Courier New"/>
              </a:rPr>
              <a:t>What Your Distro Says About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990" y="735936"/>
            <a:ext cx="6510918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1">
                <a:solidFill>
                  <a:srgbClr val="8B949E"/>
                </a:solidFill>
                <a:latin typeface="Inter 18pt"/>
              </a:rPr>
              <a:t>"Your Linux distro is a personality type — and we have the data to prove it (approximately)."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622" y="1261584"/>
            <a:ext cx="54871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Ubuntu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7616" y="1585188"/>
            <a:ext cx="740103" cy="179065"/>
          </a:xfrm>
          <a:prstGeom prst="rect">
            <a:avLst/>
          </a:prstGeom>
          <a:noFill/>
        </p:spPr>
        <p:txBody>
          <a:bodyPr wrap="none" lIns="76198" tIns="22859" rIns="76198" bIns="22859">
            <a:spAutoFit/>
          </a:bodyPr>
          <a:lstStyle/>
          <a:p>
            <a:pPr algn="l"/>
            <a:r>
              <a:rPr sz="785" b="1" i="0">
                <a:solidFill>
                  <a:srgbClr val="FBBF24"/>
                </a:solidFill>
                <a:latin typeface="Inter 18pt"/>
              </a:rPr>
              <a:t>The Realist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043" y="1874443"/>
            <a:ext cx="127899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"I want Linux to work"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091" y="2138904"/>
            <a:ext cx="1470831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3" b="0" i="0">
                <a:solidFill>
                  <a:srgbClr val="34D399"/>
                </a:solidFill>
                <a:latin typeface="Courier New"/>
              </a:rPr>
              <a:t>$ sudo apt install hope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32179" y="1261584"/>
            <a:ext cx="54871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Debian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5173" y="1585188"/>
            <a:ext cx="899048" cy="179065"/>
          </a:xfrm>
          <a:prstGeom prst="rect">
            <a:avLst/>
          </a:prstGeom>
          <a:noFill/>
        </p:spPr>
        <p:txBody>
          <a:bodyPr wrap="none" lIns="76198" tIns="22859" rIns="76198" bIns="22859">
            <a:spAutoFit/>
          </a:bodyPr>
          <a:lstStyle/>
          <a:p>
            <a:pPr algn="l"/>
            <a:r>
              <a:rPr sz="785" b="1" i="0">
                <a:solidFill>
                  <a:srgbClr val="F87171"/>
                </a:solidFill>
                <a:latin typeface="Inter 18pt"/>
              </a:rPr>
              <a:t>The Classicist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5601" y="1874443"/>
            <a:ext cx="1970881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"I want Linux to be stable forever"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5648" y="2138904"/>
            <a:ext cx="959322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3" b="0" i="0">
                <a:solidFill>
                  <a:srgbClr val="34D399"/>
                </a:solidFill>
                <a:latin typeface="Courier New"/>
              </a:rPr>
              <a:t>$ man stability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79736" y="1261584"/>
            <a:ext cx="82314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Slackware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2730" y="1585188"/>
            <a:ext cx="694712" cy="179065"/>
          </a:xfrm>
          <a:prstGeom prst="rect">
            <a:avLst/>
          </a:prstGeom>
          <a:noFill/>
        </p:spPr>
        <p:txBody>
          <a:bodyPr wrap="none" lIns="76198" tIns="22859" rIns="76198" bIns="22859">
            <a:spAutoFit/>
          </a:bodyPr>
          <a:lstStyle/>
          <a:p>
            <a:pPr algn="l"/>
            <a:r>
              <a:rPr sz="785" b="1" i="0">
                <a:solidFill>
                  <a:srgbClr val="34D399"/>
                </a:solidFill>
                <a:latin typeface="Inter 18pt"/>
              </a:rPr>
              <a:t>The Purist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3158" y="1874443"/>
            <a:ext cx="3003127" cy="32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"I want Linux to be Linux, exactly as Linus intended, circa 1993"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3206" y="2313921"/>
            <a:ext cx="2366010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3" b="0" i="0">
                <a:solidFill>
                  <a:srgbClr val="34D399"/>
                </a:solidFill>
                <a:latin typeface="Courier New"/>
              </a:rPr>
              <a:t>$ ./configure &amp;&amp; make &amp;&amp; make install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622" y="3979713"/>
            <a:ext cx="91452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Linux Mint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7616" y="4303317"/>
            <a:ext cx="959322" cy="179065"/>
          </a:xfrm>
          <a:prstGeom prst="rect">
            <a:avLst/>
          </a:prstGeom>
          <a:noFill/>
        </p:spPr>
        <p:txBody>
          <a:bodyPr wrap="none" lIns="76198" tIns="22859" rIns="76198" bIns="22859">
            <a:spAutoFit/>
          </a:bodyPr>
          <a:lstStyle/>
          <a:p>
            <a:pPr algn="l"/>
            <a:r>
              <a:rPr sz="785" b="1" i="0">
                <a:solidFill>
                  <a:srgbClr val="34D399"/>
                </a:solidFill>
                <a:latin typeface="Inter 18pt"/>
              </a:rPr>
              <a:t>The Pragmatist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043" y="4592572"/>
            <a:ext cx="163305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"I want Windows but better"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8091" y="4857033"/>
            <a:ext cx="1982341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3" b="0" i="0">
                <a:solidFill>
                  <a:srgbClr val="34D399"/>
                </a:solidFill>
                <a:latin typeface="Courier New"/>
              </a:rPr>
              <a:t>$ apt install cinnamon &amp;&amp; relax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32179" y="3979713"/>
            <a:ext cx="91452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Arch Linux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5173" y="4303317"/>
            <a:ext cx="934617" cy="179065"/>
          </a:xfrm>
          <a:prstGeom prst="rect">
            <a:avLst/>
          </a:prstGeom>
          <a:noFill/>
        </p:spPr>
        <p:txBody>
          <a:bodyPr wrap="none" lIns="76198" tIns="22859" rIns="76198" bIns="22859">
            <a:spAutoFit/>
          </a:bodyPr>
          <a:lstStyle/>
          <a:p>
            <a:pPr algn="l"/>
            <a:r>
              <a:rPr sz="785" b="1" i="0">
                <a:solidFill>
                  <a:srgbClr val="60A5FA"/>
                </a:solidFill>
                <a:latin typeface="Inter 18pt"/>
              </a:rPr>
              <a:t>The Masochist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5601" y="4592572"/>
            <a:ext cx="2660980" cy="32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"I want to suffer productively — with excellent documentation"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05648" y="5032050"/>
            <a:ext cx="1151156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3" b="0" i="0">
                <a:solidFill>
                  <a:srgbClr val="34D399"/>
                </a:solidFill>
                <a:latin typeface="Courier New"/>
              </a:rPr>
              <a:t>$ btw --i-use-arch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79736" y="3979713"/>
            <a:ext cx="45733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NixOS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2730" y="4303317"/>
            <a:ext cx="932682" cy="179065"/>
          </a:xfrm>
          <a:prstGeom prst="rect">
            <a:avLst/>
          </a:prstGeom>
          <a:noFill/>
        </p:spPr>
        <p:txBody>
          <a:bodyPr wrap="none" lIns="76198" tIns="22859" rIns="76198" bIns="22859">
            <a:spAutoFit/>
          </a:bodyPr>
          <a:lstStyle/>
          <a:p>
            <a:pPr algn="l"/>
            <a:r>
              <a:rPr sz="785" b="1" i="0">
                <a:solidFill>
                  <a:srgbClr val="A78BFA"/>
                </a:solidFill>
                <a:latin typeface="Inter 18pt"/>
              </a:rPr>
              <a:t>The Final Form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3158" y="4592572"/>
            <a:ext cx="212595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"I want my OS to be a pure function"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53206" y="4857033"/>
            <a:ext cx="2941514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3" b="0" i="0">
                <a:solidFill>
                  <a:srgbClr val="34D399"/>
                </a:solidFill>
                <a:latin typeface="Courier New"/>
              </a:rPr>
              <a:t>$ nixos-rebuild switch --flake .#enlightenment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0990" y="6486362"/>
            <a:ext cx="244012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6" b="0" i="0">
                <a:solidFill>
                  <a:srgbClr val="8B949E"/>
                </a:solidFill>
                <a:latin typeface="Inter 18pt"/>
              </a:rPr>
              <a:t>Source: youtube.com/watch?v=ORGjwyXBSiY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0448" y="6491125"/>
            <a:ext cx="48025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72" b="0" i="0">
                <a:solidFill>
                  <a:srgbClr val="8B949E"/>
                </a:solidFill>
                <a:latin typeface="Courier New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0" y="1306529"/>
            <a:ext cx="11429714" cy="952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1000" y="1422648"/>
            <a:ext cx="5600700" cy="4184005"/>
          </a:xfrm>
          <a:prstGeom prst="roundRect">
            <a:avLst>
              <a:gd name="adj" fmla="val 1821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289" y="1682608"/>
            <a:ext cx="182756" cy="18275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0300" y="1422648"/>
            <a:ext cx="5600700" cy="4184005"/>
          </a:xfrm>
          <a:prstGeom prst="roundRect">
            <a:avLst>
              <a:gd name="adj" fmla="val 1821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3443" y="1682608"/>
            <a:ext cx="182756" cy="1827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1000" y="5728543"/>
            <a:ext cx="11430000" cy="367605"/>
          </a:xfrm>
          <a:prstGeom prst="roundRect">
            <a:avLst>
              <a:gd name="adj" fmla="val 10364"/>
            </a:avLst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000" y="5728543"/>
            <a:ext cx="38100" cy="367605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0990" y="380990"/>
            <a:ext cx="6205084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339" b="1" i="0">
                <a:solidFill>
                  <a:srgbClr val="A78BFA"/>
                </a:solidFill>
                <a:latin typeface="Courier New"/>
              </a:rPr>
              <a:t>Distro Hopping: Pros &amp; Cons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990" y="889523"/>
            <a:ext cx="11207668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12" b="0" i="0">
                <a:solidFill>
                  <a:srgbClr val="34D399"/>
                </a:solidFill>
                <a:latin typeface="Courier New"/>
              </a:rPr>
              <a:t>$</a:t>
            </a:r>
            <a:r>
              <a:rPr sz="1512" b="0" i="0">
                <a:solidFill>
                  <a:srgbClr val="8B949E"/>
                </a:solidFill>
                <a:latin typeface="Courier New"/>
              </a:rPr>
              <a:t> evaluate distro-hopping --honest # A great way to learn Linux — and lose an entire weekend.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424" y="1664452"/>
            <a:ext cx="538893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9" b="1" i="0">
                <a:solidFill>
                  <a:srgbClr val="34D399"/>
                </a:solidFill>
                <a:latin typeface="Courier New"/>
              </a:rPr>
              <a:t>PROS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2945" y="1687311"/>
            <a:ext cx="665870" cy="173350"/>
          </a:xfrm>
          <a:prstGeom prst="rect">
            <a:avLst/>
          </a:prstGeom>
          <a:solidFill>
            <a:srgbClr val="1C2128"/>
          </a:solidFill>
        </p:spPr>
        <p:txBody>
          <a:bodyPr wrap="none" lIns="60958" tIns="15239" rIns="60958" bIns="15239">
            <a:spAutoFit/>
          </a:bodyPr>
          <a:lstStyle/>
          <a:p>
            <a:pPr algn="l"/>
            <a:r>
              <a:rPr sz="988" b="0" i="0">
                <a:solidFill>
                  <a:srgbClr val="8B949E"/>
                </a:solidFill>
                <a:latin typeface="Courier New"/>
              </a:rPr>
              <a:t>3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7578" y="1664452"/>
            <a:ext cx="538893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9" b="1" i="0">
                <a:solidFill>
                  <a:srgbClr val="F87171"/>
                </a:solidFill>
                <a:latin typeface="Courier New"/>
              </a:rPr>
              <a:t>CONS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2099" y="1687311"/>
            <a:ext cx="665870" cy="173350"/>
          </a:xfrm>
          <a:prstGeom prst="rect">
            <a:avLst/>
          </a:prstGeom>
          <a:solidFill>
            <a:srgbClr val="1C2128"/>
          </a:solidFill>
        </p:spPr>
        <p:txBody>
          <a:bodyPr wrap="none" lIns="60958" tIns="15239" rIns="60958" bIns="15239">
            <a:spAutoFit/>
          </a:bodyPr>
          <a:lstStyle/>
          <a:p>
            <a:pPr algn="l"/>
            <a:r>
              <a:rPr sz="988" b="0" i="0">
                <a:solidFill>
                  <a:srgbClr val="8B949E"/>
                </a:solidFill>
                <a:latin typeface="Courier New"/>
              </a:rPr>
              <a:t>3 items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564" y="5728370"/>
            <a:ext cx="8852670" cy="367655"/>
          </a:xfrm>
          <a:prstGeom prst="rect">
            <a:avLst/>
          </a:prstGeom>
          <a:noFill/>
        </p:spPr>
        <p:txBody>
          <a:bodyPr wrap="none" lIns="152396" tIns="83817" rIns="152396" bIns="83817">
            <a:spAutoFit/>
          </a:bodyPr>
          <a:lstStyle/>
          <a:p>
            <a:pPr algn="l"/>
            <a:r>
              <a:rPr sz="1226" b="0" i="1">
                <a:solidFill>
                  <a:srgbClr val="C9D1D9"/>
                </a:solidFill>
                <a:latin typeface="Inter 18pt"/>
              </a:rPr>
              <a:t>Distro hopping is simultaneously the best and worst thing you can do to your productivity and weekend plans.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0990" y="6333966"/>
            <a:ext cx="292588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Source: programmerhumor.io/memes/distros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8599" y="6333966"/>
            <a:ext cx="51210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12 /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289" y="2051097"/>
            <a:ext cx="5093961" cy="17921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45729" indent="-445729" algn="l">
              <a:lnSpc>
                <a:spcPts val="2103"/>
              </a:lnSpc>
              <a:spcBef>
                <a:spcPts val="0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</a:pPr>
            <a:r>
              <a:rPr sz="1449" b="0" i="0">
                <a:solidFill>
                  <a:srgbClr val="C9D1D9"/>
                </a:solidFill>
                <a:latin typeface="Inter 18pt"/>
              </a:rPr>
              <a:t>Learn how Linux actually works — not just clicking buttons</a:t>
            </a:r>
          </a:p>
          <a:p>
            <a:pPr marL="445729" indent="-445729" algn="l">
              <a:lnSpc>
                <a:spcPts val="2103"/>
              </a:lnSpc>
              <a:spcBef>
                <a:spcPts val="1199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</a:pPr>
            <a:r>
              <a:rPr sz="1449" b="0" i="0">
                <a:solidFill>
                  <a:srgbClr val="C9D1D9"/>
                </a:solidFill>
                <a:latin typeface="Inter 18pt"/>
              </a:rPr>
              <a:t>Find the environment that genuinely fits your workflow</a:t>
            </a:r>
          </a:p>
          <a:p>
            <a:pPr marL="445729" indent="-445729" algn="l">
              <a:lnSpc>
                <a:spcPts val="2103"/>
              </a:lnSpc>
              <a:spcBef>
                <a:spcPts val="1199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</a:pPr>
            <a:r>
              <a:rPr sz="1449" b="0" i="0">
                <a:solidFill>
                  <a:srgbClr val="C9D1D9"/>
                </a:solidFill>
                <a:latin typeface="Inter 18pt"/>
              </a:rPr>
              <a:t>Impressive party trick — at the right parties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3443" y="2051097"/>
            <a:ext cx="5093961" cy="17921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445729" indent="-445729" algn="l">
              <a:lnSpc>
                <a:spcPts val="2103"/>
              </a:lnSpc>
              <a:spcBef>
                <a:spcPts val="0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</a:buBlip>
            </a:pPr>
            <a:r>
              <a:rPr sz="1449" b="0" i="0">
                <a:solidFill>
                  <a:srgbClr val="C9D1D9"/>
                </a:solidFill>
                <a:latin typeface="Inter 18pt"/>
              </a:rPr>
              <a:t>Your /home directory is basically a refugee camp</a:t>
            </a:r>
          </a:p>
          <a:p>
            <a:pPr marL="445729" indent="-445729" algn="l">
              <a:lnSpc>
                <a:spcPts val="2103"/>
              </a:lnSpc>
              <a:spcBef>
                <a:spcPts val="1199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</a:pPr>
            <a:r>
              <a:rPr sz="1449" b="0" i="0">
                <a:solidFill>
                  <a:srgbClr val="C9D1D9"/>
                </a:solidFill>
                <a:latin typeface="Inter 18pt"/>
              </a:rPr>
              <a:t>"I'll just reinstall quickly" has never taken less than four hours</a:t>
            </a:r>
          </a:p>
          <a:p>
            <a:pPr marL="445729" indent="-445729" algn="l">
              <a:lnSpc>
                <a:spcPts val="2103"/>
              </a:lnSpc>
              <a:spcBef>
                <a:spcPts val="1199"/>
              </a:spcBef>
              <a:spcAft>
                <a:spcPts val="0"/>
              </a:spcAft>
              <a:buSzPct val="100000"/>
              <a:buBlip>
                <a:blip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</a:buBlip>
            </a:pPr>
            <a:r>
              <a:rPr sz="1449" b="0" i="0">
                <a:solidFill>
                  <a:srgbClr val="C9D1D9"/>
                </a:solidFill>
                <a:latin typeface="Inter 18pt"/>
              </a:rPr>
              <a:t>You now have opinions about init systems and no one asked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616422"/>
            <a:ext cx="2661344" cy="298846"/>
          </a:xfrm>
          <a:prstGeom prst="roundRect">
            <a:avLst>
              <a:gd name="adj" fmla="val 1912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042344" y="1630709"/>
            <a:ext cx="236041" cy="270271"/>
          </a:xfrm>
          <a:prstGeom prst="rect">
            <a:avLst/>
          </a:prstGeom>
          <a:solidFill>
            <a:srgbClr val="79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0281" y="1722923"/>
            <a:ext cx="100004" cy="857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78385" y="1533673"/>
            <a:ext cx="3151435" cy="464492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78385" y="1533673"/>
            <a:ext cx="38100" cy="4644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1000" y="2144910"/>
            <a:ext cx="2661344" cy="298846"/>
          </a:xfrm>
          <a:prstGeom prst="roundRect">
            <a:avLst>
              <a:gd name="adj" fmla="val 1912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2344" y="2159198"/>
            <a:ext cx="236041" cy="270271"/>
          </a:xfrm>
          <a:prstGeom prst="rect">
            <a:avLst/>
          </a:prstGeom>
          <a:solidFill>
            <a:srgbClr val="79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0281" y="2251398"/>
            <a:ext cx="100004" cy="857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78385" y="2062162"/>
            <a:ext cx="3151435" cy="464492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78385" y="2062162"/>
            <a:ext cx="38100" cy="4644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1000" y="2673399"/>
            <a:ext cx="2661344" cy="298846"/>
          </a:xfrm>
          <a:prstGeom prst="roundRect">
            <a:avLst>
              <a:gd name="adj" fmla="val 1912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42344" y="2687687"/>
            <a:ext cx="236041" cy="270271"/>
          </a:xfrm>
          <a:prstGeom prst="rect">
            <a:avLst/>
          </a:prstGeom>
          <a:solidFill>
            <a:srgbClr val="79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0281" y="2779874"/>
            <a:ext cx="100004" cy="8575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278385" y="2590651"/>
            <a:ext cx="3151435" cy="464492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78385" y="2590651"/>
            <a:ext cx="38100" cy="4644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81000" y="3201888"/>
            <a:ext cx="2661344" cy="298846"/>
          </a:xfrm>
          <a:prstGeom prst="roundRect">
            <a:avLst>
              <a:gd name="adj" fmla="val 1912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42344" y="3216175"/>
            <a:ext cx="236041" cy="270271"/>
          </a:xfrm>
          <a:prstGeom prst="rect">
            <a:avLst/>
          </a:prstGeom>
          <a:solidFill>
            <a:srgbClr val="79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0281" y="3308349"/>
            <a:ext cx="100004" cy="8575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278385" y="3119139"/>
            <a:ext cx="3151435" cy="464492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78385" y="3119139"/>
            <a:ext cx="38100" cy="4644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81000" y="3730376"/>
            <a:ext cx="2661344" cy="298846"/>
          </a:xfrm>
          <a:prstGeom prst="roundRect">
            <a:avLst>
              <a:gd name="adj" fmla="val 19123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42344" y="3744664"/>
            <a:ext cx="236041" cy="270271"/>
          </a:xfrm>
          <a:prstGeom prst="rect">
            <a:avLst/>
          </a:prstGeom>
          <a:solidFill>
            <a:srgbClr val="79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0281" y="3836825"/>
            <a:ext cx="100004" cy="8575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278385" y="3647628"/>
            <a:ext cx="3151435" cy="464492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78385" y="3647628"/>
            <a:ext cx="38100" cy="4644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10821" y="1716434"/>
            <a:ext cx="19050" cy="2331243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658421" y="1586954"/>
            <a:ext cx="342900" cy="34290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0657" y="1714188"/>
            <a:ext cx="91616" cy="8798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6658421" y="2036415"/>
            <a:ext cx="342900" cy="34290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0142" y="2158251"/>
            <a:ext cx="98968" cy="98968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6658421" y="2485876"/>
            <a:ext cx="342900" cy="34290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3234" y="2607701"/>
            <a:ext cx="92782" cy="98426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6658421" y="2935337"/>
            <a:ext cx="342900" cy="34290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0146" y="3068151"/>
            <a:ext cx="98964" cy="76983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658421" y="3384798"/>
            <a:ext cx="342900" cy="34290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80142" y="3506600"/>
            <a:ext cx="98968" cy="98968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6658421" y="3834258"/>
            <a:ext cx="342900" cy="34290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0142" y="3980792"/>
            <a:ext cx="98968" cy="4948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658421" y="4382839"/>
            <a:ext cx="5152578" cy="813345"/>
          </a:xfrm>
          <a:prstGeom prst="roundRect">
            <a:avLst>
              <a:gd name="adj" fmla="val 7026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658421" y="4382839"/>
            <a:ext cx="50800" cy="81334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70166" y="4506551"/>
            <a:ext cx="94233" cy="13706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80990" y="304792"/>
            <a:ext cx="234071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34D399"/>
                </a:solidFill>
                <a:latin typeface="Courier New"/>
              </a:rPr>
              <a:t>$ ./pick-your-distro.sh --honest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0990" y="502877"/>
            <a:ext cx="6234998" cy="3809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79" b="1" i="0">
                <a:solidFill>
                  <a:srgbClr val="A78BFA"/>
                </a:solidFill>
                <a:latin typeface="Courier New"/>
              </a:rPr>
              <a:t>So... Which One Should You Use?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0990" y="941314"/>
            <a:ext cx="846379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5" b="0" i="1">
                <a:solidFill>
                  <a:srgbClr val="8B949E"/>
                </a:solidFill>
                <a:latin typeface="Inter 18pt"/>
              </a:rPr>
              <a:t>The best distro is the one you actually get work done on — but that has never stopped anyone from trying the next one.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0990" y="1253696"/>
            <a:ext cx="1554768" cy="179065"/>
          </a:xfrm>
          <a:prstGeom prst="rect">
            <a:avLst/>
          </a:prstGeom>
          <a:noFill/>
        </p:spPr>
        <p:txBody>
          <a:bodyPr wrap="none" lIns="0" tIns="0" rIns="0" bIns="45718">
            <a:spAutoFit/>
          </a:bodyPr>
          <a:lstStyle/>
          <a:p>
            <a:pPr algn="l"/>
            <a:r>
              <a:rPr sz="872" b="0" i="0">
                <a:solidFill>
                  <a:srgbClr val="60A5FA"/>
                </a:solidFill>
                <a:latin typeface="Courier New"/>
              </a:rPr>
              <a:t>// decision-guide.sh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0515" y="1625787"/>
            <a:ext cx="1202798" cy="280027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953" b="0" i="0">
                <a:solidFill>
                  <a:srgbClr val="C9D1D9"/>
                </a:solidFill>
                <a:latin typeface="Courier New"/>
              </a:rPr>
              <a:t>New to Linux?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06878" y="1543041"/>
            <a:ext cx="1484523" cy="289552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894" b="1" i="0">
                <a:solidFill>
                  <a:srgbClr val="34D399"/>
                </a:solidFill>
                <a:latin typeface="Inter 18pt"/>
              </a:rPr>
              <a:t>Ubuntu or Linux Mint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1175" y="1786785"/>
            <a:ext cx="137722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8B949E"/>
                </a:solidFill>
                <a:latin typeface="Inter 18pt"/>
              </a:rPr>
              <a:t>no shame in training wheels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515" y="2154262"/>
            <a:ext cx="1952129" cy="280027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953" b="0" i="0">
                <a:solidFill>
                  <a:srgbClr val="C9D1D9"/>
                </a:solidFill>
                <a:latin typeface="Courier New"/>
              </a:rPr>
              <a:t>Developer / Power User?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06878" y="2071516"/>
            <a:ext cx="874789" cy="289552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894" b="1" i="0">
                <a:solidFill>
                  <a:srgbClr val="34D399"/>
                </a:solidFill>
                <a:latin typeface="Inter 18pt"/>
              </a:rPr>
              <a:t>Arch Linux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21175" y="2315261"/>
            <a:ext cx="235187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8B949E"/>
                </a:solidFill>
                <a:latin typeface="Inter 18pt"/>
              </a:rPr>
              <a:t>will make you feel very smart (results may vary)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0515" y="2682738"/>
            <a:ext cx="2326720" cy="280027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953" b="0" i="0">
                <a:solidFill>
                  <a:srgbClr val="C9D1D9"/>
                </a:solidFill>
                <a:latin typeface="Courier New"/>
              </a:rPr>
              <a:t>Never Break + Feel Superior?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06878" y="2599992"/>
            <a:ext cx="856633" cy="289552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894" b="1" i="0">
                <a:solidFill>
                  <a:srgbClr val="34D399"/>
                </a:solidFill>
                <a:latin typeface="Inter 18pt"/>
              </a:rPr>
              <a:t>Slackware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1175" y="2843736"/>
            <a:ext cx="191298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8B949E"/>
                </a:solidFill>
                <a:latin typeface="Inter 18pt"/>
              </a:rPr>
              <a:t>Patrick Volkerding patching since 1993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90515" y="3211213"/>
            <a:ext cx="2251862" cy="280027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953" b="0" i="0">
                <a:solidFill>
                  <a:srgbClr val="C9D1D9"/>
                </a:solidFill>
                <a:latin typeface="Courier New"/>
              </a:rPr>
              <a:t>Need Things to Never Break?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06878" y="3128467"/>
            <a:ext cx="650957" cy="289552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894" b="1" i="0">
                <a:solidFill>
                  <a:srgbClr val="34D399"/>
                </a:solidFill>
                <a:latin typeface="Inter 18pt"/>
              </a:rPr>
              <a:t>Debian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21175" y="3372212"/>
            <a:ext cx="75290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8B949E"/>
                </a:solidFill>
                <a:latin typeface="Inter 18pt"/>
              </a:rPr>
              <a:t>Ever. Seriously.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0515" y="3739689"/>
            <a:ext cx="1952129" cy="280027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953" b="0" i="0">
                <a:solidFill>
                  <a:srgbClr val="C9D1D9"/>
                </a:solidFill>
                <a:latin typeface="Courier New"/>
              </a:rPr>
              <a:t>Configure OS Like Code?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06878" y="3656942"/>
            <a:ext cx="604524" cy="289552"/>
          </a:xfrm>
          <a:prstGeom prst="rect">
            <a:avLst/>
          </a:prstGeom>
          <a:noFill/>
        </p:spPr>
        <p:txBody>
          <a:bodyPr wrap="none" lIns="114297" tIns="68578" rIns="114297" bIns="68578">
            <a:spAutoFit/>
          </a:bodyPr>
          <a:lstStyle/>
          <a:p>
            <a:pPr algn="l"/>
            <a:r>
              <a:rPr sz="894" b="1" i="0">
                <a:solidFill>
                  <a:srgbClr val="34D399"/>
                </a:solidFill>
                <a:latin typeface="Inter 18pt"/>
              </a:rPr>
              <a:t>NixOS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21175" y="3900687"/>
            <a:ext cx="199781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8B949E"/>
                </a:solidFill>
                <a:latin typeface="Inter 18pt"/>
              </a:rPr>
              <a:t>waiting for you at the end of the rainbow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58254" y="1253696"/>
            <a:ext cx="1943349" cy="179065"/>
          </a:xfrm>
          <a:prstGeom prst="rect">
            <a:avLst/>
          </a:prstGeom>
          <a:noFill/>
        </p:spPr>
        <p:txBody>
          <a:bodyPr wrap="none" lIns="0" tIns="0" rIns="0" bIns="45718">
            <a:spAutoFit/>
          </a:bodyPr>
          <a:lstStyle/>
          <a:p>
            <a:pPr algn="l"/>
            <a:r>
              <a:rPr sz="872" b="0" i="0">
                <a:solidFill>
                  <a:srgbClr val="60A5FA"/>
                </a:solidFill>
                <a:latin typeface="Courier New"/>
              </a:rPr>
              <a:t>// the-inevitable-arc.log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15443" y="1620251"/>
            <a:ext cx="43888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C9D1D9"/>
                </a:solidFill>
                <a:latin typeface="Courier New"/>
              </a:rPr>
              <a:t>Ubuntu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15443" y="1763122"/>
            <a:ext cx="791299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7" b="0" i="0">
                <a:solidFill>
                  <a:srgbClr val="8B949E"/>
                </a:solidFill>
                <a:latin typeface="Inter 18pt"/>
              </a:rPr>
              <a:t>the friendly start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15443" y="2069700"/>
            <a:ext cx="73147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C9D1D9"/>
                </a:solidFill>
                <a:latin typeface="Courier New"/>
              </a:rPr>
              <a:t>Linux Mint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15443" y="2212572"/>
            <a:ext cx="91378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7" b="0" i="0">
                <a:solidFill>
                  <a:srgbClr val="8B949E"/>
                </a:solidFill>
                <a:latin typeface="Inter 18pt"/>
              </a:rPr>
              <a:t>windows, but good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15443" y="2519150"/>
            <a:ext cx="43888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C9D1D9"/>
                </a:solidFill>
                <a:latin typeface="Courier New"/>
              </a:rPr>
              <a:t>Debian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15443" y="2662022"/>
            <a:ext cx="98105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7" b="0" i="0">
                <a:solidFill>
                  <a:srgbClr val="8B949E"/>
                </a:solidFill>
                <a:latin typeface="Inter 18pt"/>
              </a:rPr>
              <a:t>rock solid, rock slow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15443" y="2968600"/>
            <a:ext cx="73147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C9D1D9"/>
                </a:solidFill>
                <a:latin typeface="Courier New"/>
              </a:rPr>
              <a:t>Arch Linux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15443" y="3111471"/>
            <a:ext cx="67506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7" b="0" i="0">
                <a:solidFill>
                  <a:srgbClr val="8B949E"/>
                </a:solidFill>
                <a:latin typeface="Inter 18pt"/>
              </a:rPr>
              <a:t>i use arch btw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15443" y="3418050"/>
            <a:ext cx="65839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C9D1D9"/>
                </a:solidFill>
                <a:latin typeface="Courier New"/>
              </a:rPr>
              <a:t>Slackware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15443" y="3560921"/>
            <a:ext cx="92047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7" b="0" i="0">
                <a:solidFill>
                  <a:srgbClr val="8B949E"/>
                </a:solidFill>
                <a:latin typeface="Inter 18pt"/>
              </a:rPr>
              <a:t>briefly. very briefly.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15443" y="3867499"/>
            <a:ext cx="131664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9" b="1" i="0">
                <a:solidFill>
                  <a:srgbClr val="A78BFA"/>
                </a:solidFill>
                <a:latin typeface="Courier New"/>
              </a:rPr>
              <a:t>NixOS — final form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15443" y="4010371"/>
            <a:ext cx="124640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7" b="0" i="0">
                <a:solidFill>
                  <a:srgbClr val="8B949E"/>
                </a:solidFill>
                <a:latin typeface="Inter 18pt"/>
              </a:rPr>
              <a:t>cannot leave. won't leave.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62015" y="4508337"/>
            <a:ext cx="56553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1" b="1" i="0">
                <a:solidFill>
                  <a:srgbClr val="FBBF24"/>
                </a:solidFill>
                <a:latin typeface="Courier New"/>
              </a:rPr>
              <a:t>Pro Tip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48750" y="4706422"/>
            <a:ext cx="4633498" cy="349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1">
                <a:solidFill>
                  <a:srgbClr val="C9D1D9"/>
                </a:solidFill>
                <a:latin typeface="Inter 18pt"/>
              </a:rPr>
              <a:t>All roads lead to NixOS eventually — the only variable is how many distros you reinstall along the way.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0990" y="6514937"/>
            <a:ext cx="3453172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3" b="0" i="0">
                <a:solidFill>
                  <a:srgbClr val="8B949E"/>
                </a:solidFill>
                <a:latin typeface="Courier New"/>
              </a:rPr>
              <a:t>Distro Hopping: A Penguin's Guide to Commitment Issues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363040" y="6514937"/>
            <a:ext cx="447663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3" b="0" i="0">
                <a:solidFill>
                  <a:srgbClr val="8B949E"/>
                </a:solidFill>
                <a:latin typeface="Courier New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233" y="367298"/>
            <a:ext cx="213335" cy="24376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0" y="1003076"/>
            <a:ext cx="11429714" cy="952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1134516"/>
            <a:ext cx="3737967" cy="2607468"/>
          </a:xfrm>
          <a:prstGeom prst="roundRect">
            <a:avLst>
              <a:gd name="adj" fmla="val 2922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000" y="1134516"/>
            <a:ext cx="38100" cy="260746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485" y="1283015"/>
            <a:ext cx="133346" cy="1523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25528" y="1134516"/>
            <a:ext cx="3737967" cy="2607468"/>
          </a:xfrm>
          <a:prstGeom prst="roundRect">
            <a:avLst>
              <a:gd name="adj" fmla="val 2922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25528" y="1134516"/>
            <a:ext cx="38100" cy="260746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6399" y="1299948"/>
            <a:ext cx="152409" cy="11853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70056" y="1134516"/>
            <a:ext cx="3737967" cy="2607468"/>
          </a:xfrm>
          <a:prstGeom prst="roundRect">
            <a:avLst>
              <a:gd name="adj" fmla="val 2922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70056" y="1134516"/>
            <a:ext cx="38100" cy="26074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0824" y="1291481"/>
            <a:ext cx="152394" cy="13546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81000" y="3848546"/>
            <a:ext cx="3737967" cy="2607468"/>
          </a:xfrm>
          <a:prstGeom prst="roundRect">
            <a:avLst>
              <a:gd name="adj" fmla="val 2922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1000" y="3848546"/>
            <a:ext cx="38100" cy="26074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960" y="3996976"/>
            <a:ext cx="152396" cy="15239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225528" y="3848546"/>
            <a:ext cx="3737967" cy="2607468"/>
          </a:xfrm>
          <a:prstGeom prst="roundRect">
            <a:avLst>
              <a:gd name="adj" fmla="val 2922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25528" y="3848546"/>
            <a:ext cx="38100" cy="26074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06392" y="3996976"/>
            <a:ext cx="152396" cy="15239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070056" y="3848546"/>
            <a:ext cx="3737967" cy="2607468"/>
          </a:xfrm>
          <a:prstGeom prst="roundRect">
            <a:avLst>
              <a:gd name="adj" fmla="val 2922"/>
            </a:avLst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0056" y="3848546"/>
            <a:ext cx="38100" cy="260746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60349" y="3996969"/>
            <a:ext cx="133346" cy="15240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7161" y="295267"/>
            <a:ext cx="4827119" cy="3809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79" b="1" i="0">
                <a:solidFill>
                  <a:srgbClr val="A78BFA"/>
                </a:solidFill>
                <a:latin typeface="Courier New"/>
              </a:rPr>
              <a:t>The Distro Hall of Shame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0" y="711678"/>
            <a:ext cx="6602445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26" b="0" i="1">
                <a:solidFill>
                  <a:srgbClr val="8B949E"/>
                </a:solidFill>
                <a:latin typeface="Inter 18pt"/>
              </a:rPr>
              <a:t>These distros exist. We acknowledge they exist. We shall never speak of them again.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555" y="1273490"/>
            <a:ext cx="54871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Fedora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871" y="1490565"/>
            <a:ext cx="1273073" cy="144776"/>
          </a:xfrm>
          <a:prstGeom prst="rect">
            <a:avLst/>
          </a:prstGeom>
          <a:solidFill>
            <a:srgbClr val="1C2128"/>
          </a:solidFill>
        </p:spPr>
        <p:txBody>
          <a:bodyPr wrap="none" lIns="60958" tIns="15239" rIns="60958" bIns="15239">
            <a:spAutoFit/>
          </a:bodyPr>
          <a:lstStyle/>
          <a:p>
            <a:pPr algn="l"/>
            <a:r>
              <a:rPr sz="813" b="0" i="0">
                <a:solidFill>
                  <a:srgbClr val="8B949E"/>
                </a:solidFill>
                <a:latin typeface="Courier New"/>
              </a:rPr>
              <a:t>Unpaid QA 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960" y="1680971"/>
            <a:ext cx="314123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"Red Hat's beta testing program, disguised as an OS."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1960" y="1889176"/>
            <a:ext cx="3364175" cy="303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Ships cutting-edge features approximately six months before they actually work. Your breakage is a feature request.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4987" y="1273490"/>
            <a:ext cx="54871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Deepin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6303" y="1490565"/>
            <a:ext cx="1464908" cy="144776"/>
          </a:xfrm>
          <a:prstGeom prst="rect">
            <a:avLst/>
          </a:prstGeom>
          <a:solidFill>
            <a:srgbClr val="1C2128"/>
          </a:solidFill>
        </p:spPr>
        <p:txBody>
          <a:bodyPr wrap="none" lIns="60958" tIns="15239" rIns="60958" bIns="15239">
            <a:spAutoFit/>
          </a:bodyPr>
          <a:lstStyle/>
          <a:p>
            <a:pPr algn="l"/>
            <a:r>
              <a:rPr sz="813" b="0" i="0">
                <a:solidFill>
                  <a:srgbClr val="8B949E"/>
                </a:solidFill>
                <a:latin typeface="Courier New"/>
              </a:rPr>
              <a:t>Gorgeous &amp; Concerning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6392" y="1680971"/>
            <a:ext cx="3191688" cy="314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"Objectively gorgeous, subjectively concerning privacy policy."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6392" y="2051693"/>
            <a:ext cx="3185735" cy="303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The most beautiful desktop on Linux, shipped from China, with a privacy policy you will not read until it's too late.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9419" y="1273490"/>
            <a:ext cx="1188958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elementary 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0735" y="1490565"/>
            <a:ext cx="1273073" cy="144776"/>
          </a:xfrm>
          <a:prstGeom prst="rect">
            <a:avLst/>
          </a:prstGeom>
          <a:solidFill>
            <a:srgbClr val="1C2128"/>
          </a:solidFill>
        </p:spPr>
        <p:txBody>
          <a:bodyPr wrap="none" lIns="60958" tIns="15239" rIns="60958" bIns="15239">
            <a:spAutoFit/>
          </a:bodyPr>
          <a:lstStyle/>
          <a:p>
            <a:pPr algn="l"/>
            <a:r>
              <a:rPr sz="813" b="0" i="0">
                <a:solidFill>
                  <a:srgbClr val="8B949E"/>
                </a:solidFill>
                <a:latin typeface="Courier New"/>
              </a:rPr>
              <a:t>Guilt-as-a-Service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0824" y="1680971"/>
            <a:ext cx="258061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"macOS for people who can't afford a Mac."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0824" y="1889176"/>
            <a:ext cx="3109685" cy="303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Asks you to pay at download. Looks gorgeous. Feels like macOS. Is not macOS. You paid anyway.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555" y="3987452"/>
            <a:ext cx="64024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Pop!_OS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1871" y="4204527"/>
            <a:ext cx="1464908" cy="144776"/>
          </a:xfrm>
          <a:prstGeom prst="rect">
            <a:avLst/>
          </a:prstGeom>
          <a:solidFill>
            <a:srgbClr val="1C2128"/>
          </a:solidFill>
        </p:spPr>
        <p:txBody>
          <a:bodyPr wrap="none" lIns="60958" tIns="15239" rIns="60958" bIns="15239">
            <a:spAutoFit/>
          </a:bodyPr>
          <a:lstStyle/>
          <a:p>
            <a:pPr algn="l"/>
            <a:r>
              <a:rPr sz="813" b="0" i="0">
                <a:solidFill>
                  <a:srgbClr val="8B949E"/>
                </a:solidFill>
                <a:latin typeface="Courier New"/>
              </a:rPr>
              <a:t>Ubuntu + Orange Paint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960" y="4394933"/>
            <a:ext cx="2899396" cy="314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"System76 changed the accent color and called it innovation."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960" y="4765654"/>
            <a:ext cx="3137516" cy="303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Ubuntu with a tiling window manager and an exclamation mark in the name. Users are very passionate about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34987" y="3987452"/>
            <a:ext cx="73162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Zorin 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6303" y="4204527"/>
            <a:ext cx="1145084" cy="144776"/>
          </a:xfrm>
          <a:prstGeom prst="rect">
            <a:avLst/>
          </a:prstGeom>
          <a:solidFill>
            <a:srgbClr val="1C2128"/>
          </a:solidFill>
        </p:spPr>
        <p:txBody>
          <a:bodyPr wrap="none" lIns="60958" tIns="15239" rIns="60958" bIns="15239">
            <a:spAutoFit/>
          </a:bodyPr>
          <a:lstStyle/>
          <a:p>
            <a:pPr algn="l"/>
            <a:r>
              <a:rPr sz="813" b="0" i="0">
                <a:solidFill>
                  <a:srgbClr val="8B949E"/>
                </a:solidFill>
                <a:latin typeface="Courier New"/>
              </a:rPr>
              <a:t>Windows™ Cosplay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6392" y="4394933"/>
            <a:ext cx="3138557" cy="314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"The distro you install for relatives so they stop calling you."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6392" y="4765654"/>
            <a:ext cx="3137962" cy="303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Looks exactly like Windows. Works better than Windows. Your relatives still call you.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79419" y="3987452"/>
            <a:ext cx="64024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9" b="1" i="0">
                <a:solidFill>
                  <a:srgbClr val="F0F6FC"/>
                </a:solidFill>
                <a:latin typeface="Courier New"/>
              </a:rPr>
              <a:t>Manjaro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735" y="4204527"/>
            <a:ext cx="1784583" cy="144776"/>
          </a:xfrm>
          <a:prstGeom prst="rect">
            <a:avLst/>
          </a:prstGeom>
          <a:solidFill>
            <a:srgbClr val="1C2128"/>
          </a:solidFill>
        </p:spPr>
        <p:txBody>
          <a:bodyPr wrap="none" lIns="60958" tIns="15239" rIns="60958" bIns="15239">
            <a:spAutoFit/>
          </a:bodyPr>
          <a:lstStyle/>
          <a:p>
            <a:pPr algn="l"/>
            <a:r>
              <a:rPr sz="813" b="0" i="0">
                <a:solidFill>
                  <a:srgbClr val="8B949E"/>
                </a:solidFill>
                <a:latin typeface="Courier New"/>
              </a:rPr>
              <a:t>Arch, But Slower &amp; On Fire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0824" y="4394933"/>
            <a:ext cx="3192581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C9D1D9"/>
                </a:solidFill>
                <a:latin typeface="Inter 18pt"/>
              </a:rPr>
              <a:t>"All the Arch smugness, none of the security patching."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0824" y="4603138"/>
            <a:ext cx="3235293" cy="463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8B949E"/>
                </a:solidFill>
                <a:latin typeface="Inter 18pt"/>
              </a:rPr>
              <a:t>Famously renewed an expired SSL cert using --insecure flags. Ships delayed packages so you get the cutting-edge experience, minus the cutting edge.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0990" y="6532200"/>
            <a:ext cx="1609238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8B949E"/>
                </a:solidFill>
                <a:latin typeface="Courier New"/>
              </a:rPr>
              <a:t>Refael Sheinker —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98599" y="6532200"/>
            <a:ext cx="51210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30" b="0" i="0">
                <a:solidFill>
                  <a:srgbClr val="787C81"/>
                </a:solidFill>
                <a:latin typeface="Courier New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Sheinker, Refael [BWIIL]</dc:creator>
  <cp:keywords/>
  <dc:description>generated using python-pptx</dc:description>
  <cp:lastModifiedBy>Sheinker, Refael [BWIIL]</cp:lastModifiedBy>
  <cp:revision>3</cp:revision>
  <dcterms:created xsi:type="dcterms:W3CDTF">2026-08-06T09:04:11Z</dcterms:created>
  <dcterms:modified xsi:type="dcterms:W3CDTF">2026-08-06T09:43:44Z</dcterms:modified>
  <cp:category/>
</cp:coreProperties>
</file>